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325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Pancreatic Cancer Prognosis</a:t>
            </a:r>
          </a:p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Using Clinical and Radiomic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005840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FDCE6"/>
                </a:solidFill>
                <a:latin typeface="Aptos"/>
              </a:defRPr>
            </a:pPr>
            <a:r>
              <a:t>Machine Learning Theory Mini-Project · Problem Statement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058400" cy="9601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Clinical survival baseline completed</a:t>
            </a:r>
          </a:p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Radiomics extraction feasibility demonstrated on 3 matched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914400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FDCE6"/>
                </a:solidFill>
                <a:latin typeface="Aptos"/>
              </a:defRPr>
            </a:pPr>
            <a:r>
              <a:t>Results-aligned presentation · 12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B4A"/>
                </a:solidFill>
                <a:latin typeface="Aptos"/>
              </a:defRPr>
            </a:pPr>
            <a:r>
              <a:t>Problem &amp; Study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26174"/>
                </a:solidFill>
                <a:latin typeface="Aptos"/>
              </a:defRPr>
            </a:pPr>
            <a:r>
              <a:t>ML Theory Mini-Project | CPTAC-PDA | Educational research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1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32688"/>
            <a:ext cx="1088136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26174"/>
                </a:solidFill>
                <a:latin typeface="Aptos"/>
              </a:defRPr>
            </a:pPr>
            <a:r>
              <a:t>The supplied reference motivates comparing clinical-only, radiomics-only, and combined approaches.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Pancreatic ductal adenocarcinoma prognosis is challenging.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Clinical variables may capture patient-level risk; CT radiomics may capture morphology and texture.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Build a clinical survival baseline and assess radiomic extraction feasibility for matched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Current scope is feasibility; no validated combined clinical-radiomic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B4A"/>
                </a:solidFill>
                <a:latin typeface="Aptos"/>
              </a:defRPr>
            </a:pPr>
            <a:r>
              <a:t>Data &amp; Survival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26174"/>
                </a:solidFill>
                <a:latin typeface="Aptos"/>
              </a:defRPr>
            </a:pPr>
            <a:r>
              <a:t>ML Theory Mini-Project | CPTAC-PDA | Educational research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17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Clinical export: 166 records; analysis cohort after outcome/time checks: 143 patients.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Observed deaths: 115 | Right-censored: 28.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Dead: Days to Death, event = 1. Alive: Days to Last Follow Up, event =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Age at diagnosis converted from days to approximate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B4A"/>
                </a:solidFill>
                <a:latin typeface="Aptos"/>
              </a:defRPr>
            </a:pPr>
            <a:r>
              <a:t>Clinical Model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26174"/>
                </a:solidFill>
                <a:latin typeface="Aptos"/>
              </a:defRPr>
            </a:pPr>
            <a:r>
              <a:t>ML Theory Mini-Project | CPTAC-PDA | Educational research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17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Penalized Cox proportional hazards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Predictors: age in years, female indicator, high-grade indicator (G3/G4 vs other).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5-fold shuffled cross-validation; random seed 42; penalizer = 0.1.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Exploratory internal evaluation only; no external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B4A"/>
                </a:solidFill>
                <a:latin typeface="Aptos"/>
              </a:defRPr>
            </a:pPr>
            <a:r>
              <a:t>Clinical Baseline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26174"/>
                </a:solidFill>
                <a:latin typeface="Aptos"/>
              </a:defRPr>
            </a:pPr>
            <a:r>
              <a:t>ML Theory Mini-Project | CPTAC-PDA | Educational research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17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526174"/>
                </a:solidFill>
                <a:latin typeface="Aptos"/>
              </a:defRPr>
            </a:pPr>
            <a:r>
              <a:t>Pooled out-of-fold C-index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846320" cy="10058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4800" b="1">
                <a:solidFill>
                  <a:srgbClr val="147D92"/>
                </a:solidFill>
                <a:latin typeface="Aptos"/>
              </a:defRPr>
            </a:pPr>
            <a:r>
              <a:t>0.574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0292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02A35"/>
                </a:solidFill>
                <a:latin typeface="Aptos"/>
              </a:defRPr>
            </a:pPr>
            <a:r>
              <a:t>Mean fold C-index: 0.567 ± 0.043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457200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B4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663440" cy="1554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02A35"/>
                </a:solidFill>
                <a:latin typeface="Aptos"/>
              </a:defRPr>
            </a:pPr>
            <a:r>
              <a:t>A C-index near 0.5 indicates risk ranking close to chance. Higher values indicate better pairwise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03320"/>
            <a:ext cx="4663440" cy="10058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174"/>
                </a:solidFill>
                <a:latin typeface="Aptos"/>
              </a:defRPr>
            </a:pPr>
            <a:r>
              <a:t>Exploratory results; they do not establish clinical utility.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60704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A"/>
                </a:solidFill>
                <a:latin typeface="Aptos"/>
              </a:defRPr>
            </a:pPr>
            <a:r>
              <a:t>143 patients  •  115 deaths  •  28 right-censored  •  3 clinical predictors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B4A"/>
                </a:solidFill>
                <a:latin typeface="Aptos"/>
              </a:defRPr>
            </a:pPr>
            <a:r>
              <a:t>Radiomics Extraction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26174"/>
                </a:solidFill>
                <a:latin typeface="Aptos"/>
              </a:defRPr>
            </a:pPr>
            <a:r>
              <a:t>ML Theory Mini-Project | CPTAC-PDA | Educational research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17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32688"/>
            <a:ext cx="1088136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26174"/>
                </a:solidFill>
                <a:latin typeface="Aptos"/>
              </a:defRPr>
            </a:pPr>
            <a:r>
              <a:t>Referenced-slice availability does not prove full 3D contour completeness or clinical validity.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Saved cohort: 3 matched patient rows and 30 radiomic feature columns.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All 3 matched records are observed death events; 0 right-censored observations.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Extraction error file contains 0 error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Audit for C3N-00302: 29 referenced CT SOP instances present; 0 missing.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B4A"/>
                </a:solidFill>
                <a:latin typeface="Aptos"/>
              </a:defRPr>
            </a:pPr>
            <a:r>
              <a:t>Why No Combined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26174"/>
                </a:solidFill>
                <a:latin typeface="Aptos"/>
              </a:defRPr>
            </a:pPr>
            <a:r>
              <a:t>ML Theory Mini-Project | CPTAC-PDA | Educational research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17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Only 3 matched cases currently have radiomics linked to clinical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The matched subset has no right-censored observations.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Three patients cannot support meaningful survival-model evaluation with 30 radiomic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No radiomics-only or combined-model C-index is reported; no performance claims are invented.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42B4A"/>
                </a:solidFill>
                <a:latin typeface="Aptos"/>
              </a:defRPr>
            </a:pPr>
            <a: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26174"/>
                </a:solidFill>
                <a:latin typeface="Aptos"/>
              </a:defRPr>
            </a:pPr>
            <a:r>
              <a:t>ML Theory Mini-Project | CPTAC-PDA | Educational research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17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Clinical baseline has only 3 predictors and internal cross-validation.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Verify additional CT/RTSTRUCT matches, geometry, segmentation quality, and acquisition consistency.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Build a larger matched cohort with both event and censored observations.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658368"/>
          </a:xfrm>
          <a:prstGeom prst="roundRect">
            <a:avLst/>
          </a:prstGeom>
          <a:solidFill>
            <a:srgbClr val="EFF5F8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ctr">
              <a:defRPr sz="1600">
                <a:solidFill>
                  <a:srgbClr val="202A35"/>
                </a:solidFill>
                <a:latin typeface="Aptos"/>
              </a:defRPr>
            </a:pPr>
            <a:r>
              <a:t>•  Only then compare clinical-only, radiomics-only, and combined models with leakage-aware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5156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10058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Clinical-only baseline: pooled out-of-fold C-index = 0.574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332720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BFDCE6"/>
                </a:solidFill>
                <a:latin typeface="Aptos"/>
              </a:defRPr>
            </a:pPr>
            <a:r>
              <a:t>Radiomics extraction is preliminary feasibility work on three matched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332720" cy="10058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Current evidence does not support claiming a validated combined prognosis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24128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FDCE6"/>
                </a:solidFill>
                <a:latin typeface="Aptos"/>
              </a:defRPr>
            </a:pPr>
            <a:r>
              <a:t>Thank you | Educational research only — not for diagnosis or treatment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