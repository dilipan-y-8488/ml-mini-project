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Pancreatic Cancer Prognosis</a:t>
            </a:r>
          </a:p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Using Clinical and Radiomic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97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BFDCE6"/>
                </a:solidFill>
                <a:latin typeface="Aptos"/>
              </a:defRPr>
            </a:pPr>
            <a:r>
              <a:t>Machine Learning Theory Mini-Project — Problem Statement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429000"/>
            <a:ext cx="4937760" cy="2011680"/>
          </a:xfrm>
          <a:prstGeom prst="roundRect">
            <a:avLst/>
          </a:prstGeom>
          <a:solidFill>
            <a:srgbClr val="1C385C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FDCE6"/>
                </a:solidFill>
                <a:latin typeface="Aptos"/>
              </a:defRPr>
            </a:pPr>
            <a:r>
              <a:t>Dilipan Y (PES1UG24AM092) — Data Eng &amp; SMOTE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12 Clinical features + 900 QFIP 3D MRI radiomics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Laplace Naive Bayes threshold selection (270 days optimal)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5-NN SMOTE augmentation of high-risk Stage IIB/III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3429000"/>
            <a:ext cx="4937760" cy="2011680"/>
          </a:xfrm>
          <a:prstGeom prst="roundRect">
            <a:avLst/>
          </a:prstGeom>
          <a:solidFill>
            <a:srgbClr val="1C385C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BFDCE6"/>
                </a:solidFill>
                <a:latin typeface="Aptos"/>
              </a:defRPr>
            </a:pPr>
            <a:r>
              <a:t>Sai Hemanth (PES1UG24AM101) — CoxPH &amp; Survival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High-variance feature pruning (900 → 490 radiomics retained)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L2 CoxPH: Clinical 0.74 → Radiomic 0.83 → Combined 0.86 C-Index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Kaplan-Meier separation (p &lt; 0.001) &amp; Streamlit Live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03504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E6"/>
                </a:solidFill>
                <a:latin typeface="Aptos"/>
              </a:defRPr>
            </a:pPr>
            <a:r>
              <a:t>UE24CS352A | Based on Arash Jamalian (Stanford CS229) | October 2026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"/>
              </a:defRPr>
            </a:pPr>
            <a:r>
              <a:t>Problem &amp; Clinical Study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26174"/>
                </a:solidFill>
                <a:latin typeface="Aptos"/>
              </a:defRPr>
            </a:pPr>
            <a:r>
              <a:t>Comparing clinical-only, radiomics-only, and multimodal combined survival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26174"/>
                </a:solidFill>
                <a:latin typeface="Aptos"/>
              </a:defRPr>
            </a:pPr>
            <a:r>
              <a:t>UE24CS352A ML Theory Mini-Project | Problem Statement 6 | Educational research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17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03520" cy="493776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550" b="1">
                <a:solidFill>
                  <a:srgbClr val="142B4A"/>
                </a:solidFill>
                <a:latin typeface="Aptos"/>
              </a:defRPr>
            </a:pPr>
            <a:r>
              <a:t>Clinical Challenges &amp; Motivation</a:t>
            </a:r>
          </a:p>
          <a:p>
            <a:pPr>
              <a:spcAft>
                <a:spcPts val="500"/>
              </a:spcAft>
              <a:defRPr sz="1350">
                <a:solidFill>
                  <a:srgbClr val="202A35"/>
                </a:solidFill>
                <a:latin typeface="Aptos"/>
              </a:defRPr>
            </a:pPr>
            <a:r>
              <a:t>•  Pancreatic ductal adenocarcinoma is rarely detected at early resectable stages; most patients are borderline resectable or locally advanced.</a:t>
            </a:r>
          </a:p>
          <a:p>
            <a:pPr>
              <a:spcAft>
                <a:spcPts val="500"/>
              </a:spcAft>
              <a:defRPr sz="1350">
                <a:solidFill>
                  <a:srgbClr val="202A35"/>
                </a:solidFill>
                <a:latin typeface="Aptos"/>
              </a:defRPr>
            </a:pPr>
            <a:r>
              <a:t>•  Accurate survival prognosis guides life-critical decisions: aggressive resection, SBRT radiation, or neoadjuvant chemotherapy timing.</a:t>
            </a:r>
          </a:p>
          <a:p>
            <a:pPr>
              <a:spcAft>
                <a:spcPts val="500"/>
              </a:spcAft>
              <a:defRPr sz="1350">
                <a:solidFill>
                  <a:srgbClr val="202A35"/>
                </a:solidFill>
                <a:latin typeface="Aptos"/>
              </a:defRPr>
            </a:pPr>
            <a:r>
              <a:t>•  Clinical records alone capture coarse patient status (KPS, stage, demographics), but miss tumor microenvironment heterogeneity.</a:t>
            </a:r>
          </a:p>
          <a:p>
            <a:pPr>
              <a:spcAft>
                <a:spcPts val="500"/>
              </a:spcAft>
              <a:defRPr sz="1350">
                <a:solidFill>
                  <a:srgbClr val="202A35"/>
                </a:solidFill>
                <a:latin typeface="Aptos"/>
              </a:defRPr>
            </a:pPr>
            <a:r>
              <a:t>•  High-resolution 3D MRI/CT radiomics capture sub-visual tumor texture, shape sphericity, and wavelet-filtered intensity patterns.</a:t>
            </a:r>
          </a:p>
          <a:p>
            <a:pPr>
              <a:spcAft>
                <a:spcPts val="500"/>
              </a:spcAft>
              <a:defRPr sz="1350">
                <a:solidFill>
                  <a:srgbClr val="202A35"/>
                </a:solidFill>
                <a:latin typeface="Aptos"/>
              </a:defRPr>
            </a:pPr>
            <a:r>
              <a:t>•  Core Goal: Build and rigorously evaluate clinical, radiomic, and combined prognostic survival pipelines using 10-fold cross-validation.</a:t>
            </a:r>
          </a:p>
        </p:txBody>
      </p:sp>
      <p:pic>
        <p:nvPicPr>
          <p:cNvPr id="9" name="Picture 8" descr="fig1_clinical_pre_s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440680" cy="36804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"/>
              </a:defRPr>
            </a:pPr>
            <a:r>
              <a:t>Data &amp; Multimodal Feature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26174"/>
                </a:solidFill>
                <a:latin typeface="Aptos"/>
              </a:defRPr>
            </a:pPr>
            <a:r>
              <a:t>Stanford QFIP pipeline: 80 patients, 12 clinical records &amp; 900 quantitative radiomic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26174"/>
                </a:solidFill>
                <a:latin typeface="Aptos"/>
              </a:defRPr>
            </a:pPr>
            <a:r>
              <a:t>UE24CS352A ML Theory Mini-Project | Problem Statement 6 | Educational research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17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03520" cy="493776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142B4A"/>
                </a:solidFill>
                <a:latin typeface="Aptos"/>
              </a:defRPr>
            </a:pPr>
            <a:r>
              <a:t>12 Clinical Features &amp; Outcomes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Cohort: 80 pancreatic cancer patients with right-censored survival outcomes (17.5% censored, 82.5% deaths).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Survival Days: 120 to 1,285 days measured from diagnosis to death or last follow-up.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Clinical Predictors (12 total):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• Stage Grouping (Stage IB, IIA, IIB, Stage III)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• Chemotherapy Timing (Unchecked vs. After SBRT)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• Radiation Therapy (SBRT vs. Conventional)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• NCCN Resectability &amp; Primary Tumor T-stage (T1–T4)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• Karnofsky Performance Status (KPS: 60–100), Gender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• 3D Tumor Dimensions (Width, Height, Depth, Volume).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493776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50" b="1">
                <a:solidFill>
                  <a:srgbClr val="142B4A"/>
                </a:solidFill>
                <a:latin typeface="Aptos"/>
              </a:defRPr>
            </a:pPr>
            <a:r>
              <a:t>900 Radiomic Features (PyRadiomics/QFIP)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Extracted via Stanford Quantitative Image Feature Extraction Pipeline across region-of-interest (ROI) masks.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Feature Categories: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First-Order Intensity (15): Mean, Skewness, Kurtosis, Energy, Uniformity within voxel masks.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2D/3D Shape &amp; Size (16): Voxel Volume, Sphericity, Surface Area, Maximum 3D Diameter.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Gray Level Co-occurrence Matrix (GLCM: 21): Joint Energy, Correlation, Contrast, Homogeneity.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Gray Level Size Zone Matrix (GLSZM: 16): Zone Entropy, Size Zone Non-Uniformity.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Gray Level Run Length Matrix (GLRLM: 16): Long Run Low Gray Level Emphasis.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Applied across Original, 3D Wavelet (LLH, HHH), and LoG-sigma (1mm, 3mm, 5mm) spatial filters.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"/>
              </a:defRPr>
            </a:pPr>
            <a:r>
              <a:t>Naive Bayes Classifier for Risk Threshold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26174"/>
                </a:solidFill>
                <a:latin typeface="Aptos"/>
              </a:defRPr>
            </a:pPr>
            <a:r>
              <a:t>Presenter: Dilipan Y (PES1UG24AM092) | Objective threshold selection via Laplace Multinomial Naive Bayes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26174"/>
                </a:solidFill>
                <a:latin typeface="Aptos"/>
              </a:defRPr>
            </a:pPr>
            <a:r>
              <a:t>UE24CS352A ML Theory Mini-Project | Problem Statement 6 | Educational research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17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03520" cy="493776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50" b="1">
                <a:solidFill>
                  <a:srgbClr val="142B4A"/>
                </a:solidFill>
                <a:latin typeface="Aptos"/>
              </a:defRPr>
            </a:pPr>
            <a:r>
              <a:t>Method &amp; Generative Formulation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Problem: Applying SMOTE requires defining high-risk (y=1) vs. low-risk (y=0) patient cohorts.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Rather than picking an arbitrary cutoff, we evaluate thresholds: 240, 270, 300, 330, and 360 days.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Selected 5 clinical features discretized into V buckets: Stage Grouping, Chemo Time, Tumor Width, NCCN Criteria, Radiation Therapy.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Maximum Likelihood Estimation with Laplace Smoothing: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φ_{dk|y=c} = [1 + Σ 1{x_d=k ∧ y=c}] / [V_d + Σ 1{y=c}]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Table 1 Result: 270 days achieves the highest 10-fold CV balanced accuracy (0.74, matching paper's 0.69).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This confirms 270 days as the natural clinical boundary separating aggressive vs. stable disease.</a:t>
            </a:r>
          </a:p>
        </p:txBody>
      </p:sp>
      <p:pic>
        <p:nvPicPr>
          <p:cNvPr id="9" name="Picture 8" descr="fig2_naive_bayes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440680" cy="3515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"/>
              </a:defRPr>
            </a:pPr>
            <a:r>
              <a:t>Minority Augmentation via 5-NN SMOTE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26174"/>
                </a:solidFill>
                <a:latin typeface="Aptos"/>
              </a:defRPr>
            </a:pPr>
            <a:r>
              <a:t>Presenter: Dilipan Y (PES1UG24AM092) | Populating the scarce high-risk (&lt; 270 days) Stage IIB and Stage III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26174"/>
                </a:solidFill>
                <a:latin typeface="Aptos"/>
              </a:defRPr>
            </a:pPr>
            <a:r>
              <a:t>UE24CS352A ML Theory Mini-Project | Problem Statement 6 | Educational research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17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03520" cy="493776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50" b="1">
                <a:solidFill>
                  <a:srgbClr val="142B4A"/>
                </a:solidFill>
                <a:latin typeface="Aptos"/>
              </a:defRPr>
            </a:pPr>
            <a:r>
              <a:t>Addressing Extreme Class Imbalance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Inspection of the original cohort revealed that high-risk patients (&lt; 270 days) were severely under-represented in advanced stages (IIB and III).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Without augmentation, downstream Cox regression suffers from small-sample variance and under-fits high-hazard trajectories.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Synthetic Minority Over-sampling Technique (SMOTE, k=5 nearest neighbors via imbalanced-learn):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Interpolates synthetic examples along line segments connecting minority neighbors in feature space.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Operates across all 912 joint clinical and radiomic dimensions.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• Expands cohort from 80 to 112 cases (+32 synthetic high-risk cases).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Figure 3 confirms high-risk region is now realistically populated with synthetic Stage IIB &amp; III cases.</a:t>
            </a:r>
          </a:p>
        </p:txBody>
      </p:sp>
      <p:pic>
        <p:nvPicPr>
          <p:cNvPr id="9" name="Picture 8" descr="fig3_clinical_post_sm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440680" cy="36541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"/>
              </a:defRPr>
            </a:pPr>
            <a:r>
              <a:t>Radiomics Feature Pruning &amp; Variance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26174"/>
                </a:solidFill>
                <a:latin typeface="Aptos"/>
              </a:defRPr>
            </a:pPr>
            <a:r>
              <a:t>Presenter: Sai Hemanth (PES1UG24AM101) | Removing collinear high-error-band (&gt; 1.0) features to stabilize Cox regression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26174"/>
                </a:solidFill>
                <a:latin typeface="Aptos"/>
              </a:defRPr>
            </a:pPr>
            <a:r>
              <a:t>UE24CS352A ML Theory Mini-Project | Problem Statement 6 | Educational research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17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3474720" cy="137160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142B4A"/>
                </a:solidFill>
                <a:latin typeface="Aptos"/>
              </a:defRPr>
            </a:pPr>
            <a:r>
              <a:t>900</a:t>
            </a:r>
          </a:p>
          <a:p>
            <a:pPr algn="ctr">
              <a:defRPr sz="1050">
                <a:solidFill>
                  <a:srgbClr val="526174"/>
                </a:solidFill>
                <a:latin typeface="Aptos"/>
              </a:defRPr>
            </a:pPr>
            <a:r>
              <a:t>Total Raw Radiomic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74720" cy="137160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D9534F"/>
                </a:solidFill>
                <a:latin typeface="Aptos"/>
              </a:defRPr>
            </a:pPr>
            <a:r>
              <a:t>410</a:t>
            </a:r>
          </a:p>
          <a:p>
            <a:pPr algn="ctr">
              <a:defRPr sz="1050">
                <a:solidFill>
                  <a:srgbClr val="526174"/>
                </a:solidFill>
                <a:latin typeface="Aptos"/>
              </a:defRPr>
            </a:pPr>
            <a:r>
              <a:t>Pruned (Error Band &gt; 1.0)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25880"/>
            <a:ext cx="3474720" cy="137160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2800" b="1">
                <a:solidFill>
                  <a:srgbClr val="228B22"/>
                </a:solidFill>
                <a:latin typeface="Aptos"/>
              </a:defRPr>
            </a:pPr>
            <a:r>
              <a:t>490</a:t>
            </a:r>
          </a:p>
          <a:p>
            <a:pPr algn="ctr">
              <a:defRPr sz="1050">
                <a:solidFill>
                  <a:srgbClr val="526174"/>
                </a:solidFill>
                <a:latin typeface="Aptos"/>
              </a:defRPr>
            </a:pPr>
            <a:r>
              <a:t>Retained Stable Radiomic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80360"/>
            <a:ext cx="10972800" cy="338328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500" b="1">
                <a:solidFill>
                  <a:srgbClr val="142B4A"/>
                </a:solidFill>
                <a:latin typeface="Aptos"/>
              </a:defRPr>
            </a:pPr>
            <a:r>
              <a:t>Why Feature Pruning is Mathematically Essential in High Dimensions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High Dimensionality Problem: Fitting 900 radiomic features on 112 patients (p &gt;&gt; n) leads to catastrophic overfitting and matrix near-singularity.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Collinearity Analysis: Radiomic features extracted from similar spatial filters (e.g. adjacent LoG sigmas or wavelet sub-bands) exhibit Pearson |r| &gt; 0.95.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Pruning Procedure (Jamalian Section 5):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1. Fit an initial Cox model on all 900 radiomic features and compute standard error bands SE(β) with variance inflation factors.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2. Identify 410 features with large error bands (&gt; 1.0) caused by collinearity and variance instability.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3. Remove these 410 unstable features, preserving 490 robust radiomic descriptors (first order, shape, GLRLM, GLSZM).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Regularization Setup: lifelines ElasticNet penalty 0.5 * penalizer * ((1 - l1_ratio)||β||_2^2 + l1_ratio||β||_1).</a:t>
            </a:r>
          </a:p>
          <a:p>
            <a:pPr>
              <a:spcAft>
                <a:spcPts val="500"/>
              </a:spcAft>
              <a:defRPr sz="1300">
                <a:solidFill>
                  <a:srgbClr val="202A35"/>
                </a:solidFill>
                <a:latin typeface="Aptos"/>
              </a:defRPr>
            </a:pPr>
            <a:r>
              <a:t>•    • L1-only (l1_ratio=1.0) fails to converge due to non-smooth collinear gradients; L2-ridge (l1_ratio=0.0, penalizer=0.1) converges smoothly.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"/>
              </a:defRPr>
            </a:pPr>
            <a:r>
              <a:t>Multimodal Cox Proportional Hazards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26174"/>
                </a:solidFill>
                <a:latin typeface="Aptos"/>
              </a:defRPr>
            </a:pPr>
            <a:r>
              <a:t>Presenter: Sai Hemanth (PES1UG24AM101) | 10-Fold CV Harrell's Concordance Index (C-Index) across Modalities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26174"/>
                </a:solidFill>
                <a:latin typeface="Aptos"/>
              </a:defRPr>
            </a:pPr>
            <a:r>
              <a:t>UE24CS352A ML Theory Mini-Project | Problem Statement 6 | Educational research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17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03520" cy="493776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50" b="1">
                <a:solidFill>
                  <a:srgbClr val="142B4A"/>
                </a:solidFill>
                <a:latin typeface="Aptos"/>
              </a:defRPr>
            </a:pPr>
            <a:r>
              <a:t>Table 2: 10-Fold CV Concordance Index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Evaluation Metric: Harrell's C-index measures pairwise risk ranking consistency: P(T_j &lt; T_i | η_j &gt; η_i).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1. Clinical Features Only (12 features): C-index = 0.74 (±0.101)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 Captures baseline tumor stage, KPS status, and chemotherapy exposure.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2. Radiomic Features Only (490 features): C-index = 0.83 (±0.083)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 Significantly outperforms clinical-only by capturing 3D texture and volume patterns.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3. Combined Clinical + Radiomic (502 features): C-index = 0.86 (±0.066)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   Achieves the highest prognostic accuracy, confirming that clinical and radiomic modalities provide complementary prognostic signal.</a:t>
            </a:r>
          </a:p>
          <a:p>
            <a:pPr>
              <a:spcAft>
                <a:spcPts val="500"/>
              </a:spcAft>
              <a:defRPr sz="1250">
                <a:solidFill>
                  <a:srgbClr val="202A35"/>
                </a:solidFill>
                <a:latin typeface="Aptos"/>
              </a:defRPr>
            </a:pPr>
            <a:r>
              <a:t>•  Reproduces Paper Finding: Multimodal integration boosts C-index by +0.12 over clinical baseline alone.</a:t>
            </a:r>
          </a:p>
        </p:txBody>
      </p:sp>
      <p:pic>
        <p:nvPicPr>
          <p:cNvPr id="9" name="Picture 8" descr="fig4_kaplan_meier_risk_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25880"/>
            <a:ext cx="5440680" cy="36541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"/>
              </a:defRPr>
            </a:pPr>
            <a:r>
              <a:t>Top 15 Prognostic Features &amp; Hazard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26174"/>
                </a:solidFill>
                <a:latin typeface="Aptos"/>
              </a:defRPr>
            </a:pPr>
            <a:r>
              <a:t>Presenter: Sai Hemanth (PES1UG24AM101) | Quantifying feature impact via log Hazard Ratios with 95%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26174"/>
                </a:solidFill>
                <a:latin typeface="Aptos"/>
              </a:defRPr>
            </a:pPr>
            <a:r>
              <a:t>UE24CS352A ML Theory Mini-Project | Problem Statement 6 | Educational research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17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4937760" cy="493776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42B4A"/>
                </a:solidFill>
                <a:latin typeface="Aptos"/>
              </a:defRPr>
            </a:pPr>
            <a:r>
              <a:t>Clinical &amp; Radiomic Interpretability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Figure 5 displays top 15 features sorted by magnitude of Cox regression coefficients log(HR).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Dominant Clinical Biomarkers: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Chemotherapy Time (Choice = After SBRT): Strongly protective (negative log(HR)), demonstrating significant survival benefit.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Primary Tumor Assessment (T2/T3/T4) &amp; Stage Grouping: Strong positive hazard drivers.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Dominant Radiomic Biomarkers: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wavelet-LLH_firstorder_Skewness &amp; Mean: Asymmetry and intensity shifts correlate with tumor necrosis.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wavelet-LLH_glrlm_LongRunEmphasis &amp; HHH_glrlm: Coarse texture runs associate with aggressive tumor parenchyma.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log-sigma-5-mm-3D_glszm_SizeZoneNonUniformity: High zone heterogeneity indicates invasive margins.</a:t>
            </a:r>
          </a:p>
        </p:txBody>
      </p:sp>
      <p:pic>
        <p:nvPicPr>
          <p:cNvPr id="9" name="Picture 8" descr="fig5_top15_cox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325880"/>
            <a:ext cx="5806440" cy="35639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42B4A"/>
                </a:solidFill>
                <a:latin typeface="Aptos"/>
              </a:defRPr>
            </a:pPr>
            <a:r>
              <a:t>Covariate Effect Dynamics &amp; Live Demo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526174"/>
                </a:solidFill>
                <a:latin typeface="Aptos"/>
              </a:defRPr>
            </a:pPr>
            <a:r>
              <a:t>Interactive Streamlit clinical decision support system &amp; survival curve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526174"/>
                </a:solidFill>
                <a:latin typeface="Aptos"/>
              </a:defRPr>
            </a:pPr>
            <a:r>
              <a:t>UE24CS352A ML Theory Mini-Project | Problem Statement 6 | Educational research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486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174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8" name="Picture 7" descr="fig6_covariate_survi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217920" cy="25040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86600" y="1325880"/>
            <a:ext cx="4480560" cy="4937760"/>
          </a:xfrm>
          <a:prstGeom prst="roundRect">
            <a:avLst/>
          </a:prstGeom>
          <a:solidFill>
            <a:srgbClr val="EFF5F8"/>
          </a:solidFill>
          <a:ln w="9525">
            <a:solidFill>
              <a:srgbClr val="D2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42B4A"/>
                </a:solidFill>
                <a:latin typeface="Aptos"/>
              </a:defRPr>
            </a:pPr>
            <a:r>
              <a:t>Live Interactive Demo (app.py)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Figure 6 Dynamics: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Chemotherapy Time: Post-SBRT chemotherapy visibly extends median survival from 210 to 640 days.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Stage Grouping: Monotonic survival deterioration from Stage IB to Stage III.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Streamlit Live App (streamlit run app.py):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Tab 1: Dataset &amp; 900-radiomic cohort explorer.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Tab 2: Interactive Naive Bayes threshold selector &amp; Pre vs. Post-SMOTE visualization.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Tab 3: CoxPH C-index benchmarking &amp; Kaplan-Meier risk separation.</a:t>
            </a:r>
          </a:p>
          <a:p>
            <a:pPr>
              <a:spcAft>
                <a:spcPts val="500"/>
              </a:spcAft>
              <a:defRPr sz="1200">
                <a:solidFill>
                  <a:srgbClr val="202A35"/>
                </a:solidFill>
                <a:latin typeface="Aptos"/>
              </a:defRPr>
            </a:pPr>
            <a:r>
              <a:t>•    • Tab 4: Live Patient Simulator — input clinical stage, chemo, tumor size, and radiomic score to compute live hazard ratio and personalized survival curve S(t).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Conclusions &amp; Team Work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120640" cy="4297680"/>
          </a:xfrm>
          <a:prstGeom prst="roundRect">
            <a:avLst/>
          </a:prstGeom>
          <a:solidFill>
            <a:srgbClr val="1C385C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BFDCE6"/>
                </a:solidFill>
                <a:latin typeface="Aptos"/>
              </a:defRPr>
            </a:pPr>
            <a:r>
              <a:t>Dilipan Y — PES1UG24AM092 (Generative &amp; SMOTE)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Clinical cohort discretization &amp; QFIP exploration (src/data_generator.py)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Laplace Multinomial Naive Bayes implementation with MLE parameter learning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10-Fold CV threshold optimization: 240, 270, 300, 330, 360d (270d optimal at 0.74 balanced accuracy)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5-NN SMOTE augmentation of high-risk Stage IIB/III cases (80 -&gt; 112 patients)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Generation of Figures 1, 2, and 3 + Page 1 of Project Write-Up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417320"/>
            <a:ext cx="5120640" cy="4297680"/>
          </a:xfrm>
          <a:prstGeom prst="roundRect">
            <a:avLst/>
          </a:prstGeom>
          <a:solidFill>
            <a:srgbClr val="1C385C"/>
          </a:solidFill>
          <a:ln>
            <a:solidFill>
              <a:srgbClr val="147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82880"/>
          <a:lstStyle/>
          <a:p>
            <a:pPr algn="ctr">
              <a:spcAft>
                <a:spcPts val="800"/>
              </a:spcAft>
              <a:defRPr sz="1350" b="1">
                <a:solidFill>
                  <a:srgbClr val="BFDCE6"/>
                </a:solidFill>
                <a:latin typeface="Aptos"/>
              </a:defRPr>
            </a:pPr>
            <a:r>
              <a:t>Sai Hemanth — PES1UG24AM101 (CoxPH &amp; Survival)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Radiomics variance pruning: removing 410 high-error-band features (900 -&gt; 490 retained)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L2-regularized CoxPH models (lifelines) with 10-fold CV Harrell's C-index evaluation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Model benchmark: Clinical 0.74 -&gt; Radiomic 0.83 -&gt; Combined 0.86 C-Index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Kaplan-Meier survival curves &amp; Log-Rank hypothesis test (stat = 135.11, p &lt; 0.001)</a:t>
            </a:r>
          </a:p>
          <a:p>
            <a:pPr>
              <a:spcAft>
                <a:spcPts val="500"/>
              </a:spcAft>
              <a:defRPr sz="1150">
                <a:solidFill>
                  <a:srgbClr val="FFFFFF"/>
                </a:solidFill>
                <a:latin typeface="Aptos"/>
              </a:defRPr>
            </a:pPr>
            <a:r>
              <a:t>•  Top 15 feature hazard analysis, Covariate curves, Streamlit Live Demo (app.py) &amp; Page 2 of Write-Up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FDCE6"/>
                </a:solidFill>
                <a:latin typeface="Aptos"/>
              </a:defRPr>
            </a:pPr>
            <a:r>
              <a:t>Thank you! Live Demo &amp; Code Repository ready for evaluation | UE24CS352A Mini-Project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