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05840"/>
            <a:ext cx="10332720" cy="365760"/>
          </a:xfrm>
          <a:prstGeom prst="rect">
            <a:avLst/>
          </a:prstGeom>
          <a:noFill/>
        </p:spPr>
        <p:txBody>
          <a:bodyPr wrap="none">
            <a:spAutoFit/>
          </a:bodyPr>
          <a:lstStyle/>
          <a:p>
            <a:pPr>
              <a:defRPr sz="1200" b="1">
                <a:solidFill>
                  <a:srgbClr val="60A5FA"/>
                </a:solidFill>
                <a:latin typeface="Arial"/>
              </a:defRPr>
            </a:pPr>
            <a:r>
              <a:t>UE24CS352A MACHINE LEARNING MINI-PROJECT — PROBLEM STATEMENT 6</a:t>
            </a:r>
          </a:p>
        </p:txBody>
      </p:sp>
      <p:sp>
        <p:nvSpPr>
          <p:cNvPr id="4" name="TextBox 3"/>
          <p:cNvSpPr txBox="1"/>
          <p:nvPr/>
        </p:nvSpPr>
        <p:spPr>
          <a:xfrm>
            <a:off x="914400" y="1463040"/>
            <a:ext cx="10332720" cy="1645920"/>
          </a:xfrm>
          <a:prstGeom prst="rect">
            <a:avLst/>
          </a:prstGeom>
          <a:noFill/>
        </p:spPr>
        <p:txBody>
          <a:bodyPr wrap="square">
            <a:spAutoFit/>
          </a:bodyPr>
          <a:lstStyle/>
          <a:p>
            <a:pPr>
              <a:defRPr sz="3600" b="1">
                <a:solidFill>
                  <a:srgbClr val="FFFFFF"/>
                </a:solidFill>
                <a:latin typeface="Arial"/>
              </a:defRPr>
            </a:pPr>
            <a:r>
              <a:t>Pancreatic Cancer Prognosis Using</a:t>
            </a:r>
            <a:br/>
            <a:r>
              <a:t>Clinical and Radiomic Data</a:t>
            </a:r>
          </a:p>
        </p:txBody>
      </p:sp>
      <p:sp>
        <p:nvSpPr>
          <p:cNvPr id="5" name="TextBox 4"/>
          <p:cNvSpPr txBox="1"/>
          <p:nvPr/>
        </p:nvSpPr>
        <p:spPr>
          <a:xfrm>
            <a:off x="914400" y="3200400"/>
            <a:ext cx="10332720" cy="731520"/>
          </a:xfrm>
          <a:prstGeom prst="rect">
            <a:avLst/>
          </a:prstGeom>
          <a:noFill/>
        </p:spPr>
        <p:txBody>
          <a:bodyPr wrap="square">
            <a:spAutoFit/>
          </a:bodyPr>
          <a:lstStyle/>
          <a:p>
            <a:pPr>
              <a:defRPr sz="1600">
                <a:solidFill>
                  <a:srgbClr val="CBD5E1"/>
                </a:solidFill>
                <a:latin typeface="Arial"/>
              </a:defRPr>
            </a:pPr>
            <a:r>
              <a:t>Multimodal Survival Modeling, Fold-Isolated SMOTE Augmentation &amp; Replication of Stanford CS229 Study</a:t>
            </a:r>
          </a:p>
        </p:txBody>
      </p:sp>
      <p:sp>
        <p:nvSpPr>
          <p:cNvPr id="6" name="Rectangle 5"/>
          <p:cNvSpPr/>
          <p:nvPr/>
        </p:nvSpPr>
        <p:spPr>
          <a:xfrm>
            <a:off x="914400" y="4114800"/>
            <a:ext cx="4937760" cy="164592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251960"/>
            <a:ext cx="4572000" cy="1371600"/>
          </a:xfrm>
          <a:prstGeom prst="rect">
            <a:avLst/>
          </a:prstGeom>
          <a:noFill/>
        </p:spPr>
        <p:txBody>
          <a:bodyPr wrap="square">
            <a:spAutoFit/>
          </a:bodyPr>
          <a:lstStyle/>
          <a:p>
            <a:pPr>
              <a:defRPr sz="1400" b="1">
                <a:solidFill>
                  <a:srgbClr val="FFFFFF"/>
                </a:solidFill>
                <a:latin typeface="Arial"/>
              </a:defRPr>
            </a:pPr>
            <a:r>
              <a:t>Dilipan Y  •  PES1UG24AM092</a:t>
            </a:r>
          </a:p>
          <a:p>
            <a:pPr>
              <a:defRPr sz="1100">
                <a:solidFill>
                  <a:srgbClr val="CBD5E1"/>
                </a:solidFill>
                <a:latin typeface="Arial"/>
              </a:defRPr>
            </a:pPr>
            <a:r>
              <a:t>• Data Engineering, Discretization &amp; EDA (src/data_generator.py)</a:t>
            </a:r>
          </a:p>
          <a:p>
            <a:pPr>
              <a:defRPr sz="1100">
                <a:solidFill>
                  <a:srgbClr val="CBD5E1"/>
                </a:solidFill>
                <a:latin typeface="Arial"/>
              </a:defRPr>
            </a:pPr>
            <a:r>
              <a:t>• Multinomial Naive Bayes &amp; Tie-Breaking (src/naive_bayes_smote.py)</a:t>
            </a:r>
          </a:p>
          <a:p>
            <a:pPr>
              <a:defRPr sz="1100">
                <a:solidFill>
                  <a:srgbClr val="CBD5E1"/>
                </a:solidFill>
                <a:latin typeface="Arial"/>
              </a:defRPr>
            </a:pPr>
            <a:r>
              <a:t>• Joint Feature Space 5-NN SMOTE Augmentation (80 -&gt; 112 patients)</a:t>
            </a:r>
          </a:p>
        </p:txBody>
      </p:sp>
      <p:sp>
        <p:nvSpPr>
          <p:cNvPr id="8" name="Rectangle 7"/>
          <p:cNvSpPr/>
          <p:nvPr/>
        </p:nvSpPr>
        <p:spPr>
          <a:xfrm>
            <a:off x="6217920" y="4114800"/>
            <a:ext cx="5029200" cy="164592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4251960"/>
            <a:ext cx="4663440" cy="1371600"/>
          </a:xfrm>
          <a:prstGeom prst="rect">
            <a:avLst/>
          </a:prstGeom>
          <a:noFill/>
        </p:spPr>
        <p:txBody>
          <a:bodyPr wrap="square">
            <a:spAutoFit/>
          </a:bodyPr>
          <a:lstStyle/>
          <a:p>
            <a:pPr>
              <a:defRPr sz="1400" b="1">
                <a:solidFill>
                  <a:srgbClr val="FFFFFF"/>
                </a:solidFill>
                <a:latin typeface="Arial"/>
              </a:defRPr>
            </a:pPr>
            <a:r>
              <a:t>Sai Hemanth  •  PES1UG24AM101</a:t>
            </a:r>
          </a:p>
          <a:p>
            <a:pPr>
              <a:defRPr sz="1100">
                <a:solidFill>
                  <a:srgbClr val="CBD5E1"/>
                </a:solidFill>
                <a:latin typeface="Arial"/>
              </a:defRPr>
            </a:pPr>
            <a:r>
              <a:t>• Radiomics Pruning (&gt;1.0 SE rule, 900 -&gt; 490 features retained)</a:t>
            </a:r>
          </a:p>
          <a:p>
            <a:pPr>
              <a:defRPr sz="1100">
                <a:solidFill>
                  <a:srgbClr val="CBD5E1"/>
                </a:solidFill>
                <a:latin typeface="Arial"/>
              </a:defRPr>
            </a:pPr>
            <a:r>
              <a:t>• L2 Regularized Cox Proportional Hazards Model (src/survival_models.py)</a:t>
            </a:r>
          </a:p>
          <a:p>
            <a:pPr>
              <a:defRPr sz="1100">
                <a:solidFill>
                  <a:srgbClr val="CBD5E1"/>
                </a:solidFill>
                <a:latin typeface="Arial"/>
              </a:defRPr>
            </a:pPr>
            <a:r>
              <a:t>• Honest Leak-Free vs. Leaky 10-Fold CV C-Index &amp; Streamlit App</a:t>
            </a:r>
          </a:p>
        </p:txBody>
      </p:sp>
      <p:sp>
        <p:nvSpPr>
          <p:cNvPr id="10" name="TextBox 9"/>
          <p:cNvSpPr txBox="1"/>
          <p:nvPr/>
        </p:nvSpPr>
        <p:spPr>
          <a:xfrm>
            <a:off x="914400" y="5989320"/>
            <a:ext cx="10332720" cy="457200"/>
          </a:xfrm>
          <a:prstGeom prst="rect">
            <a:avLst/>
          </a:prstGeom>
          <a:noFill/>
        </p:spPr>
        <p:txBody>
          <a:bodyPr wrap="none">
            <a:spAutoFit/>
          </a:bodyPr>
          <a:lstStyle/>
          <a:p>
            <a:pPr>
              <a:defRPr sz="1000">
                <a:solidFill>
                  <a:srgbClr val="94A3B8"/>
                </a:solidFill>
                <a:latin typeface="Arial"/>
              </a:defRPr>
            </a:pPr>
            <a:r>
              <a:t>Notice: Dataset is synthetic (original Stanford data is under NDA). Results evaluate ML methodology honestly.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PROBLEM STATEMENT &amp; CONTEXT</a:t>
            </a:r>
          </a:p>
          <a:p>
            <a:pPr>
              <a:defRPr sz="2100" b="1">
                <a:solidFill>
                  <a:srgbClr val="1B365D"/>
                </a:solidFill>
                <a:latin typeface="Arial"/>
              </a:defRPr>
            </a:pPr>
            <a:r>
              <a:t>Clinical Motivation &amp; Study Objectives</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02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621792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63040"/>
            <a:ext cx="5669280" cy="4572000"/>
          </a:xfrm>
          <a:prstGeom prst="rect">
            <a:avLst/>
          </a:prstGeom>
          <a:noFill/>
        </p:spPr>
        <p:txBody>
          <a:bodyPr wrap="square">
            <a:spAutoFit/>
          </a:bodyPr>
          <a:lstStyle/>
          <a:p>
            <a:pPr>
              <a:defRPr sz="1600" b="1">
                <a:solidFill>
                  <a:srgbClr val="1B365D"/>
                </a:solidFill>
                <a:latin typeface="Arial"/>
              </a:defRPr>
            </a:pPr>
            <a:r>
              <a:t>The Clinical Challenge: Pancreatic Cancer (PDAC)</a:t>
            </a:r>
          </a:p>
          <a:p>
            <a:pPr>
              <a:spcBef>
                <a:spcPts val="800"/>
              </a:spcBef>
              <a:defRPr sz="1100">
                <a:latin typeface="Arial"/>
              </a:defRPr>
            </a:pPr>
            <a:r>
              <a:rPr b="1">
                <a:solidFill>
                  <a:srgbClr val="1E293B"/>
                </a:solidFill>
              </a:rPr>
              <a:t>Extreme Lethality: </a:t>
            </a:r>
            <a:r>
              <a:rPr>
                <a:solidFill>
                  <a:srgbClr val="64748B"/>
                </a:solidFill>
              </a:rPr>
              <a:t>Pancreatic ductal adenocarcinoma is rarely diagnosed early (&lt;20% resectable). Median overall survival ranges from only 10 to 12 months.</a:t>
            </a:r>
          </a:p>
          <a:p>
            <a:pPr>
              <a:spcBef>
                <a:spcPts val="800"/>
              </a:spcBef>
              <a:defRPr sz="1100">
                <a:latin typeface="Arial"/>
              </a:defRPr>
            </a:pPr>
            <a:r>
              <a:rPr b="1">
                <a:solidFill>
                  <a:srgbClr val="1E293B"/>
                </a:solidFill>
              </a:rPr>
              <a:t>Treatment Personalization: </a:t>
            </a:r>
            <a:r>
              <a:rPr>
                <a:solidFill>
                  <a:srgbClr val="64748B"/>
                </a:solidFill>
              </a:rPr>
              <a:t>Patients with borderline resectable or locally advanced tumors require tailored therapy pathways (chemotherapy timing before vs. after SBRT; radiation fractionation).</a:t>
            </a:r>
          </a:p>
          <a:p>
            <a:pPr>
              <a:spcBef>
                <a:spcPts val="800"/>
              </a:spcBef>
              <a:defRPr sz="1100">
                <a:latin typeface="Arial"/>
              </a:defRPr>
            </a:pPr>
            <a:r>
              <a:rPr b="1">
                <a:solidFill>
                  <a:srgbClr val="1E293B"/>
                </a:solidFill>
              </a:rPr>
              <a:t>Limitations of Clinical TNM: </a:t>
            </a:r>
            <a:r>
              <a:rPr>
                <a:solidFill>
                  <a:srgbClr val="64748B"/>
                </a:solidFill>
              </a:rPr>
              <a:t>Standard clinical TNM staging provides coarse risk strata that fail to reflect complex micro-environmental tumor variations.</a:t>
            </a:r>
          </a:p>
          <a:p>
            <a:pPr>
              <a:spcBef>
                <a:spcPts val="800"/>
              </a:spcBef>
              <a:defRPr sz="1100">
                <a:latin typeface="Arial"/>
              </a:defRPr>
            </a:pPr>
            <a:r>
              <a:rPr b="1">
                <a:solidFill>
                  <a:srgbClr val="1E293B"/>
                </a:solidFill>
              </a:rPr>
              <a:t>The Multimodal Radiomics Hypothesis: </a:t>
            </a:r>
            <a:r>
              <a:rPr>
                <a:solidFill>
                  <a:srgbClr val="64748B"/>
                </a:solidFill>
              </a:rPr>
              <a:t>Quantitative 3D MRI radiomics extracts hundreds of computational texture descriptors capturing intratumoral heterogeneity undetectable by visual inspection.</a:t>
            </a:r>
          </a:p>
          <a:p>
            <a:pPr>
              <a:spcBef>
                <a:spcPts val="800"/>
              </a:spcBef>
              <a:defRPr sz="1100">
                <a:latin typeface="Arial"/>
              </a:defRPr>
            </a:pPr>
            <a:r>
              <a:rPr b="1">
                <a:solidFill>
                  <a:srgbClr val="1E293B"/>
                </a:solidFill>
              </a:rPr>
              <a:t>Replication Goal: </a:t>
            </a:r>
            <a:r>
              <a:rPr>
                <a:solidFill>
                  <a:srgbClr val="64748B"/>
                </a:solidFill>
              </a:rPr>
              <a:t>Faithfully replicate the computational framework of Jamalian (Stanford CS229, 2020), rigorously evaluate data leakage, and establish honest benchmarks.</a:t>
            </a:r>
          </a:p>
        </p:txBody>
      </p:sp>
      <p:sp>
        <p:nvSpPr>
          <p:cNvPr id="7" name="Rectangle 6"/>
          <p:cNvSpPr/>
          <p:nvPr/>
        </p:nvSpPr>
        <p:spPr>
          <a:xfrm>
            <a:off x="7132320" y="1280160"/>
            <a:ext cx="4297680" cy="155448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417320"/>
            <a:ext cx="3931920" cy="1280160"/>
          </a:xfrm>
          <a:prstGeom prst="rect">
            <a:avLst/>
          </a:prstGeom>
          <a:noFill/>
        </p:spPr>
        <p:txBody>
          <a:bodyPr wrap="square">
            <a:spAutoFit/>
          </a:bodyPr>
          <a:lstStyle/>
          <a:p>
            <a:pPr>
              <a:defRPr sz="1000" b="1">
                <a:solidFill>
                  <a:srgbClr val="DC2626"/>
                </a:solidFill>
                <a:latin typeface="Arial"/>
              </a:defRPr>
            </a:pPr>
            <a:r>
              <a:t>MEDIAN SURVIVAL</a:t>
            </a:r>
          </a:p>
          <a:p>
            <a:pPr>
              <a:defRPr sz="2000" b="1">
                <a:solidFill>
                  <a:srgbClr val="1B365D"/>
                </a:solidFill>
                <a:latin typeface="Arial"/>
              </a:defRPr>
            </a:pPr>
            <a:r>
              <a:t>~10 - 12 Months</a:t>
            </a:r>
          </a:p>
          <a:p>
            <a:pPr>
              <a:defRPr sz="1000">
                <a:solidFill>
                  <a:srgbClr val="64748B"/>
                </a:solidFill>
                <a:latin typeface="Arial"/>
              </a:defRPr>
            </a:pPr>
            <a:r>
              <a:t>Locally advanced PDAC carries poor prognosis; early risk stratification is vital.</a:t>
            </a:r>
          </a:p>
        </p:txBody>
      </p:sp>
      <p:sp>
        <p:nvSpPr>
          <p:cNvPr id="9" name="Rectangle 8"/>
          <p:cNvSpPr/>
          <p:nvPr/>
        </p:nvSpPr>
        <p:spPr>
          <a:xfrm>
            <a:off x="7132320" y="2971800"/>
            <a:ext cx="4297680" cy="155448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3108960"/>
            <a:ext cx="3931920" cy="1280160"/>
          </a:xfrm>
          <a:prstGeom prst="rect">
            <a:avLst/>
          </a:prstGeom>
          <a:noFill/>
        </p:spPr>
        <p:txBody>
          <a:bodyPr wrap="square">
            <a:spAutoFit/>
          </a:bodyPr>
          <a:lstStyle/>
          <a:p>
            <a:pPr>
              <a:defRPr sz="1000" b="1">
                <a:solidFill>
                  <a:srgbClr val="2563EB"/>
                </a:solidFill>
                <a:latin typeface="Arial"/>
              </a:defRPr>
            </a:pPr>
            <a:r>
              <a:t>MULTIMODAL FUSION</a:t>
            </a:r>
          </a:p>
          <a:p>
            <a:pPr>
              <a:defRPr sz="2000" b="1">
                <a:solidFill>
                  <a:srgbClr val="1B365D"/>
                </a:solidFill>
                <a:latin typeface="Arial"/>
              </a:defRPr>
            </a:pPr>
            <a:r>
              <a:t>12 Clinical + 900 Radiomics</a:t>
            </a:r>
          </a:p>
          <a:p>
            <a:pPr>
              <a:defRPr sz="1000">
                <a:solidFill>
                  <a:srgbClr val="64748B"/>
                </a:solidFill>
                <a:latin typeface="Arial"/>
              </a:defRPr>
            </a:pPr>
            <a:r>
              <a:t>Fuses gross clinical staging with fine-grained 3D voxel texture descriptors.</a:t>
            </a:r>
          </a:p>
        </p:txBody>
      </p:sp>
      <p:sp>
        <p:nvSpPr>
          <p:cNvPr id="11" name="Rectangle 10"/>
          <p:cNvSpPr/>
          <p:nvPr/>
        </p:nvSpPr>
        <p:spPr>
          <a:xfrm>
            <a:off x="7132320" y="4663440"/>
            <a:ext cx="4297680" cy="155448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4800600"/>
            <a:ext cx="3931920" cy="1280160"/>
          </a:xfrm>
          <a:prstGeom prst="rect">
            <a:avLst/>
          </a:prstGeom>
          <a:noFill/>
        </p:spPr>
        <p:txBody>
          <a:bodyPr wrap="square">
            <a:spAutoFit/>
          </a:bodyPr>
          <a:lstStyle/>
          <a:p>
            <a:pPr>
              <a:defRPr sz="1000" b="1">
                <a:solidFill>
                  <a:srgbClr val="059669"/>
                </a:solidFill>
                <a:latin typeface="Arial"/>
              </a:defRPr>
            </a:pPr>
            <a:r>
              <a:t>EVALUATION METRIC</a:t>
            </a:r>
          </a:p>
          <a:p>
            <a:pPr>
              <a:defRPr sz="2000" b="1">
                <a:solidFill>
                  <a:srgbClr val="1B365D"/>
                </a:solidFill>
                <a:latin typeface="Arial"/>
              </a:defRPr>
            </a:pPr>
            <a:r>
              <a:t>Harrell's C-Index</a:t>
            </a:r>
          </a:p>
          <a:p>
            <a:pPr>
              <a:defRPr sz="1000">
                <a:solidFill>
                  <a:srgbClr val="64748B"/>
                </a:solidFill>
                <a:latin typeface="Arial"/>
              </a:defRPr>
            </a:pPr>
            <a:r>
              <a:t>Quantifies pairwise survival order concordance across 10-fold cross-validation.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DATASET SPECIFICATION</a:t>
            </a:r>
          </a:p>
          <a:p>
            <a:pPr>
              <a:defRPr sz="2100" b="1">
                <a:solidFill>
                  <a:srgbClr val="1B365D"/>
                </a:solidFill>
                <a:latin typeface="Arial"/>
              </a:defRPr>
            </a:pPr>
            <a:r>
              <a:t>Cohort &amp; Feature Architecture (Synthetic Data Disclosure)</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03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10698480" cy="100584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25880"/>
            <a:ext cx="10332720" cy="914400"/>
          </a:xfrm>
          <a:prstGeom prst="rect">
            <a:avLst/>
          </a:prstGeom>
          <a:noFill/>
        </p:spPr>
        <p:txBody>
          <a:bodyPr wrap="square">
            <a:spAutoFit/>
          </a:bodyPr>
          <a:lstStyle/>
          <a:p>
            <a:pPr>
              <a:defRPr sz="1100" b="1">
                <a:solidFill>
                  <a:srgbClr val="DC2626"/>
                </a:solidFill>
                <a:latin typeface="Arial"/>
              </a:defRPr>
            </a:pPr>
            <a:r>
              <a:t>DATASET DISCLAIMER &amp; METHODOLOGICAL DISCLOSURE</a:t>
            </a:r>
          </a:p>
          <a:p>
            <a:pPr>
              <a:defRPr sz="1050">
                <a:solidFill>
                  <a:srgbClr val="7F1D1D"/>
                </a:solidFill>
                <a:latin typeface="Arial"/>
              </a:defRPr>
            </a:pPr>
            <a:r>
              <a:t>The original Stanford Cancer Center cohort evaluated in Jamalian (2020) is proprietary and protected under NDA. All data in data/clinical_data.csv and data/radiomic_data.csv are SYNTHETIC, generated via src/data_generator.py to faithfully replicate the structure (80 patients, 12 clinical variables, 900 radiomic features). These are NOT real patient records and results are NOT directly comparable to the paper.</a:t>
            </a:r>
          </a:p>
        </p:txBody>
      </p:sp>
      <p:sp>
        <p:nvSpPr>
          <p:cNvPr id="7" name="Rectangle 6"/>
          <p:cNvSpPr/>
          <p:nvPr/>
        </p:nvSpPr>
        <p:spPr>
          <a:xfrm>
            <a:off x="731520" y="2423160"/>
            <a:ext cx="5212080" cy="3794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560320"/>
            <a:ext cx="4846320" cy="3520440"/>
          </a:xfrm>
          <a:prstGeom prst="rect">
            <a:avLst/>
          </a:prstGeom>
          <a:noFill/>
        </p:spPr>
        <p:txBody>
          <a:bodyPr wrap="square">
            <a:spAutoFit/>
          </a:bodyPr>
          <a:lstStyle/>
          <a:p>
            <a:pPr>
              <a:defRPr sz="1400" b="1">
                <a:solidFill>
                  <a:srgbClr val="1B365D"/>
                </a:solidFill>
                <a:latin typeface="Arial"/>
              </a:defRPr>
            </a:pPr>
            <a:r>
              <a:t>12 Clinical Features (80 Synthetic Patients)</a:t>
            </a:r>
          </a:p>
          <a:p>
            <a:pPr>
              <a:spcBef>
                <a:spcPts val="600"/>
              </a:spcBef>
              <a:defRPr sz="1050">
                <a:latin typeface="Arial"/>
              </a:defRPr>
            </a:pPr>
            <a:r>
              <a:rPr b="1">
                <a:solidFill>
                  <a:srgbClr val="1E293B"/>
                </a:solidFill>
              </a:rPr>
              <a:t>• Demographics &amp; Performance: </a:t>
            </a:r>
            <a:r>
              <a:rPr>
                <a:solidFill>
                  <a:srgbClr val="64748B"/>
                </a:solidFill>
              </a:rPr>
              <a:t>Age (mean 65.5 ± 9.8), Gender, ECOG performance status (0 to 2)</a:t>
            </a:r>
          </a:p>
          <a:p>
            <a:pPr>
              <a:spcBef>
                <a:spcPts val="600"/>
              </a:spcBef>
              <a:defRPr sz="1050">
                <a:latin typeface="Arial"/>
              </a:defRPr>
            </a:pPr>
            <a:r>
              <a:rPr b="1">
                <a:solidFill>
                  <a:srgbClr val="1E293B"/>
                </a:solidFill>
              </a:rPr>
              <a:t>• Tumor Staging: </a:t>
            </a:r>
            <a:r>
              <a:rPr>
                <a:solidFill>
                  <a:srgbClr val="64748B"/>
                </a:solidFill>
              </a:rPr>
              <a:t>Primary Tumor (T1 to T4), Regional Lymph Nodes (N0, N1), Stage Grouping (IIB, III)</a:t>
            </a:r>
          </a:p>
          <a:p>
            <a:pPr>
              <a:spcBef>
                <a:spcPts val="600"/>
              </a:spcBef>
              <a:defRPr sz="1050">
                <a:latin typeface="Arial"/>
              </a:defRPr>
            </a:pPr>
            <a:r>
              <a:rPr b="1">
                <a:solidFill>
                  <a:srgbClr val="1E293B"/>
                </a:solidFill>
              </a:rPr>
              <a:t>• Intervention Modalities: </a:t>
            </a:r>
            <a:r>
              <a:rPr>
                <a:solidFill>
                  <a:srgbClr val="64748B"/>
                </a:solidFill>
              </a:rPr>
              <a:t>Chemotherapy Choice (Gemcitabine, FOLFIRINOX), Timing (Before/After SBRT), Radiation Therapy</a:t>
            </a:r>
          </a:p>
          <a:p>
            <a:pPr>
              <a:spcBef>
                <a:spcPts val="600"/>
              </a:spcBef>
              <a:defRPr sz="1050">
                <a:latin typeface="Arial"/>
              </a:defRPr>
            </a:pPr>
            <a:r>
              <a:rPr b="1">
                <a:solidFill>
                  <a:srgbClr val="1E293B"/>
                </a:solidFill>
              </a:rPr>
              <a:t>• Surgical Criteria &amp; Size: </a:t>
            </a:r>
            <a:r>
              <a:rPr>
                <a:solidFill>
                  <a:srgbClr val="64748B"/>
                </a:solidFill>
              </a:rPr>
              <a:t>NCCN Resectability status, 3D Tumor Dimensions (Width, Depth, Height in cm)</a:t>
            </a:r>
          </a:p>
        </p:txBody>
      </p:sp>
      <p:sp>
        <p:nvSpPr>
          <p:cNvPr id="9" name="Rectangle 8"/>
          <p:cNvSpPr/>
          <p:nvPr/>
        </p:nvSpPr>
        <p:spPr>
          <a:xfrm>
            <a:off x="6217920" y="2423160"/>
            <a:ext cx="5212080" cy="3794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4846320" cy="3520440"/>
          </a:xfrm>
          <a:prstGeom prst="rect">
            <a:avLst/>
          </a:prstGeom>
          <a:noFill/>
        </p:spPr>
        <p:txBody>
          <a:bodyPr wrap="square">
            <a:spAutoFit/>
          </a:bodyPr>
          <a:lstStyle/>
          <a:p>
            <a:pPr>
              <a:defRPr sz="1400" b="1">
                <a:solidFill>
                  <a:srgbClr val="1B365D"/>
                </a:solidFill>
                <a:latin typeface="Arial"/>
              </a:defRPr>
            </a:pPr>
            <a:r>
              <a:t>900 Radiomic Descriptors &amp; Survival Simulation</a:t>
            </a:r>
          </a:p>
          <a:p>
            <a:pPr>
              <a:spcBef>
                <a:spcPts val="600"/>
              </a:spcBef>
              <a:defRPr sz="1050">
                <a:latin typeface="Arial"/>
              </a:defRPr>
            </a:pPr>
            <a:r>
              <a:rPr b="1">
                <a:solidFill>
                  <a:srgbClr val="1E293B"/>
                </a:solidFill>
              </a:rPr>
              <a:t>• Quantitative 3D Extraction: </a:t>
            </a:r>
            <a:r>
              <a:rPr>
                <a:solidFill>
                  <a:srgbClr val="64748B"/>
                </a:solidFill>
              </a:rPr>
              <a:t>Mimics PyRadiomics / Stanford QFIP: First-order intensity statistics, Shape descriptors, Texture matrices (GLCM, GLRLM, GLSZM, NGTDM).</a:t>
            </a:r>
          </a:p>
          <a:p>
            <a:pPr>
              <a:spcBef>
                <a:spcPts val="600"/>
              </a:spcBef>
              <a:defRPr sz="1050">
                <a:latin typeface="Arial"/>
              </a:defRPr>
            </a:pPr>
            <a:r>
              <a:rPr b="1">
                <a:solidFill>
                  <a:srgbClr val="1E293B"/>
                </a:solidFill>
              </a:rPr>
              <a:t>• Multi-Scale Wavelet Filter: </a:t>
            </a:r>
            <a:r>
              <a:rPr>
                <a:solidFill>
                  <a:srgbClr val="64748B"/>
                </a:solidFill>
              </a:rPr>
              <a:t>Decomposed across 8 wavelet sub-bands (LLH, LHL, LHH, HLL, HLH, HHL, HHH, LLL) capturing high/low frequency directional textures.</a:t>
            </a:r>
          </a:p>
          <a:p>
            <a:pPr>
              <a:spcBef>
                <a:spcPts val="600"/>
              </a:spcBef>
              <a:defRPr sz="1050">
                <a:latin typeface="Arial"/>
              </a:defRPr>
            </a:pPr>
            <a:r>
              <a:rPr b="1">
                <a:solidFill>
                  <a:srgbClr val="1E293B"/>
                </a:solidFill>
              </a:rPr>
              <a:t>• Log-Linear Hazard Simulation: </a:t>
            </a:r>
            <a:r>
              <a:rPr>
                <a:solidFill>
                  <a:srgbClr val="64748B"/>
                </a:solidFill>
              </a:rPr>
              <a:t>Survival time simulated from baseline Weibull distribution modulated by prognostic clinical stages and radiomic texture signals: h(t|x) = h0(t) exp(beta^T x).</a:t>
            </a:r>
          </a:p>
          <a:p>
            <a:pPr>
              <a:spcBef>
                <a:spcPts val="600"/>
              </a:spcBef>
              <a:defRPr sz="1050">
                <a:latin typeface="Arial"/>
              </a:defRPr>
            </a:pPr>
            <a:r>
              <a:rPr b="1">
                <a:solidFill>
                  <a:srgbClr val="1E293B"/>
                </a:solidFill>
              </a:rPr>
              <a:t>• Realistic Right-Censoring: </a:t>
            </a:r>
            <a:r>
              <a:rPr>
                <a:solidFill>
                  <a:srgbClr val="64748B"/>
                </a:solidFill>
              </a:rPr>
              <a:t>Independent right-censoring simulated at ~22.5% rate (18 censored, 62 observed events), mirroring clinical oncology study attrition.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PIPELINE WORKFLOW</a:t>
            </a:r>
          </a:p>
          <a:p>
            <a:pPr>
              <a:defRPr sz="2100" b="1">
                <a:solidFill>
                  <a:srgbClr val="1B365D"/>
                </a:solidFill>
                <a:latin typeface="Arial"/>
              </a:defRPr>
            </a:pPr>
            <a:r>
              <a:t>End-to-End Methodological Architecture</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04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371600"/>
            <a:ext cx="2011680" cy="39319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011680" cy="3657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PHASE 1</a:t>
            </a:r>
          </a:p>
        </p:txBody>
      </p:sp>
      <p:sp>
        <p:nvSpPr>
          <p:cNvPr id="7" name="TextBox 6"/>
          <p:cNvSpPr txBox="1"/>
          <p:nvPr/>
        </p:nvSpPr>
        <p:spPr>
          <a:xfrm>
            <a:off x="822960" y="1828800"/>
            <a:ext cx="1828800" cy="3291840"/>
          </a:xfrm>
          <a:prstGeom prst="rect">
            <a:avLst/>
          </a:prstGeom>
          <a:noFill/>
        </p:spPr>
        <p:txBody>
          <a:bodyPr wrap="square">
            <a:spAutoFit/>
          </a:bodyPr>
          <a:lstStyle/>
          <a:p>
            <a:pPr>
              <a:defRPr sz="1300" b="1">
                <a:solidFill>
                  <a:srgbClr val="1B365D"/>
                </a:solidFill>
                <a:latin typeface="Arial"/>
              </a:defRPr>
            </a:pPr>
            <a:r>
              <a:t>1. Discretization</a:t>
            </a:r>
          </a:p>
          <a:p>
            <a:pPr>
              <a:spcBef>
                <a:spcPts val="400"/>
              </a:spcBef>
              <a:defRPr sz="1050" b="1">
                <a:solidFill>
                  <a:srgbClr val="2563EB"/>
                </a:solidFill>
                <a:latin typeface="Arial"/>
              </a:defRPr>
            </a:pPr>
            <a:r>
              <a:t>5 Clinical Features</a:t>
            </a:r>
          </a:p>
          <a:p>
            <a:pPr>
              <a:spcBef>
                <a:spcPts val="800"/>
              </a:spcBef>
              <a:defRPr sz="1000">
                <a:solidFill>
                  <a:srgbClr val="64748B"/>
                </a:solidFill>
                <a:latin typeface="Arial"/>
              </a:defRPr>
            </a:pPr>
            <a:r>
              <a:t>Stage, Chemo Time, Tumor Width, NCCN, Radiation converted to discrete categorical bins.</a:t>
            </a:r>
          </a:p>
        </p:txBody>
      </p:sp>
      <p:sp>
        <p:nvSpPr>
          <p:cNvPr id="8" name="Rectangle 7"/>
          <p:cNvSpPr/>
          <p:nvPr/>
        </p:nvSpPr>
        <p:spPr>
          <a:xfrm>
            <a:off x="2907792" y="1371600"/>
            <a:ext cx="2011680" cy="39319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371600"/>
            <a:ext cx="2011680" cy="36576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PHASE 2</a:t>
            </a:r>
          </a:p>
        </p:txBody>
      </p:sp>
      <p:sp>
        <p:nvSpPr>
          <p:cNvPr id="10" name="TextBox 9"/>
          <p:cNvSpPr txBox="1"/>
          <p:nvPr/>
        </p:nvSpPr>
        <p:spPr>
          <a:xfrm>
            <a:off x="2999232" y="1828800"/>
            <a:ext cx="1828800" cy="3291840"/>
          </a:xfrm>
          <a:prstGeom prst="rect">
            <a:avLst/>
          </a:prstGeom>
          <a:noFill/>
        </p:spPr>
        <p:txBody>
          <a:bodyPr wrap="square">
            <a:spAutoFit/>
          </a:bodyPr>
          <a:lstStyle/>
          <a:p>
            <a:pPr>
              <a:defRPr sz="1300" b="1">
                <a:solidFill>
                  <a:srgbClr val="1B365D"/>
                </a:solidFill>
                <a:latin typeface="Arial"/>
              </a:defRPr>
            </a:pPr>
            <a:r>
              <a:t>2. Risk Threshold</a:t>
            </a:r>
          </a:p>
          <a:p>
            <a:pPr>
              <a:spcBef>
                <a:spcPts val="400"/>
              </a:spcBef>
              <a:defRPr sz="1050" b="1">
                <a:solidFill>
                  <a:srgbClr val="1B365D"/>
                </a:solidFill>
                <a:latin typeface="Arial"/>
              </a:defRPr>
            </a:pPr>
            <a:r>
              <a:t>Multinomial NB</a:t>
            </a:r>
          </a:p>
          <a:p>
            <a:pPr>
              <a:spcBef>
                <a:spcPts val="800"/>
              </a:spcBef>
              <a:defRPr sz="1000">
                <a:solidFill>
                  <a:srgbClr val="64748B"/>
                </a:solidFill>
                <a:latin typeface="Arial"/>
              </a:defRPr>
            </a:pPr>
            <a:r>
              <a:t>10-Fold CV balanced accuracy evaluated across 240-360d. Optimal 270d cutoff selected via tie-breaking.</a:t>
            </a:r>
          </a:p>
        </p:txBody>
      </p:sp>
      <p:sp>
        <p:nvSpPr>
          <p:cNvPr id="11" name="Rectangle 10"/>
          <p:cNvSpPr/>
          <p:nvPr/>
        </p:nvSpPr>
        <p:spPr>
          <a:xfrm>
            <a:off x="5084064" y="1371600"/>
            <a:ext cx="2011680" cy="39319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84064" y="1371600"/>
            <a:ext cx="2011680" cy="3657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PHASE 3</a:t>
            </a:r>
          </a:p>
        </p:txBody>
      </p:sp>
      <p:sp>
        <p:nvSpPr>
          <p:cNvPr id="13" name="TextBox 12"/>
          <p:cNvSpPr txBox="1"/>
          <p:nvPr/>
        </p:nvSpPr>
        <p:spPr>
          <a:xfrm>
            <a:off x="5175504" y="1828800"/>
            <a:ext cx="1828800" cy="3291840"/>
          </a:xfrm>
          <a:prstGeom prst="rect">
            <a:avLst/>
          </a:prstGeom>
          <a:noFill/>
        </p:spPr>
        <p:txBody>
          <a:bodyPr wrap="square">
            <a:spAutoFit/>
          </a:bodyPr>
          <a:lstStyle/>
          <a:p>
            <a:pPr>
              <a:defRPr sz="1300" b="1">
                <a:solidFill>
                  <a:srgbClr val="1B365D"/>
                </a:solidFill>
                <a:latin typeface="Arial"/>
              </a:defRPr>
            </a:pPr>
            <a:r>
              <a:t>3. SMOTE Augmentation</a:t>
            </a:r>
          </a:p>
          <a:p>
            <a:pPr>
              <a:spcBef>
                <a:spcPts val="400"/>
              </a:spcBef>
              <a:defRPr sz="1050" b="1">
                <a:solidFill>
                  <a:srgbClr val="D97706"/>
                </a:solidFill>
                <a:latin typeface="Arial"/>
              </a:defRPr>
            </a:pPr>
            <a:r>
              <a:t>Fold-Isolated 5-NN</a:t>
            </a:r>
          </a:p>
          <a:p>
            <a:pPr>
              <a:spcBef>
                <a:spcPts val="800"/>
              </a:spcBef>
              <a:defRPr sz="1000">
                <a:solidFill>
                  <a:srgbClr val="64748B"/>
                </a:solidFill>
                <a:latin typeface="Arial"/>
              </a:defRPr>
            </a:pPr>
            <a:r>
              <a:t>Synthesizes minority high-risk patients (&lt;270d) inside CV training splits ONLY (80 -&gt; 112 cases).</a:t>
            </a:r>
          </a:p>
        </p:txBody>
      </p:sp>
      <p:sp>
        <p:nvSpPr>
          <p:cNvPr id="14" name="Rectangle 13"/>
          <p:cNvSpPr/>
          <p:nvPr/>
        </p:nvSpPr>
        <p:spPr>
          <a:xfrm>
            <a:off x="7260336" y="1371600"/>
            <a:ext cx="2011680" cy="39319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60336" y="1371600"/>
            <a:ext cx="2011680" cy="36576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PHASE 4</a:t>
            </a:r>
          </a:p>
        </p:txBody>
      </p:sp>
      <p:sp>
        <p:nvSpPr>
          <p:cNvPr id="16" name="TextBox 15"/>
          <p:cNvSpPr txBox="1"/>
          <p:nvPr/>
        </p:nvSpPr>
        <p:spPr>
          <a:xfrm>
            <a:off x="7351776" y="1828800"/>
            <a:ext cx="1828800" cy="3291840"/>
          </a:xfrm>
          <a:prstGeom prst="rect">
            <a:avLst/>
          </a:prstGeom>
          <a:noFill/>
        </p:spPr>
        <p:txBody>
          <a:bodyPr wrap="square">
            <a:spAutoFit/>
          </a:bodyPr>
          <a:lstStyle/>
          <a:p>
            <a:pPr>
              <a:defRPr sz="1300" b="1">
                <a:solidFill>
                  <a:srgbClr val="1B365D"/>
                </a:solidFill>
                <a:latin typeface="Arial"/>
              </a:defRPr>
            </a:pPr>
            <a:r>
              <a:t>4. Radiomic Pruning</a:t>
            </a:r>
          </a:p>
          <a:p>
            <a:pPr>
              <a:spcBef>
                <a:spcPts val="400"/>
              </a:spcBef>
              <a:defRPr sz="1050" b="1">
                <a:solidFill>
                  <a:srgbClr val="DC2626"/>
                </a:solidFill>
                <a:latin typeface="Arial"/>
              </a:defRPr>
            </a:pPr>
            <a:r>
              <a:t>Variance Error Band</a:t>
            </a:r>
          </a:p>
          <a:p>
            <a:pPr>
              <a:spcBef>
                <a:spcPts val="800"/>
              </a:spcBef>
              <a:defRPr sz="1000">
                <a:solidFill>
                  <a:srgbClr val="64748B"/>
                </a:solidFill>
                <a:latin typeface="Arial"/>
              </a:defRPr>
            </a:pPr>
            <a:r>
              <a:t>Filters 410 collinear radiomic features with SE &gt; 1.0 using training data only (900 -&gt; 490 retained).</a:t>
            </a:r>
          </a:p>
        </p:txBody>
      </p:sp>
      <p:sp>
        <p:nvSpPr>
          <p:cNvPr id="17" name="Rectangle 16"/>
          <p:cNvSpPr/>
          <p:nvPr/>
        </p:nvSpPr>
        <p:spPr>
          <a:xfrm>
            <a:off x="9436608" y="1371600"/>
            <a:ext cx="2011680" cy="39319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36608" y="1371600"/>
            <a:ext cx="2011680" cy="3657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PHASE 5</a:t>
            </a:r>
          </a:p>
        </p:txBody>
      </p:sp>
      <p:sp>
        <p:nvSpPr>
          <p:cNvPr id="19" name="TextBox 18"/>
          <p:cNvSpPr txBox="1"/>
          <p:nvPr/>
        </p:nvSpPr>
        <p:spPr>
          <a:xfrm>
            <a:off x="9528048" y="1828800"/>
            <a:ext cx="1828800" cy="3291840"/>
          </a:xfrm>
          <a:prstGeom prst="rect">
            <a:avLst/>
          </a:prstGeom>
          <a:noFill/>
        </p:spPr>
        <p:txBody>
          <a:bodyPr wrap="square">
            <a:spAutoFit/>
          </a:bodyPr>
          <a:lstStyle/>
          <a:p>
            <a:pPr>
              <a:defRPr sz="1300" b="1">
                <a:solidFill>
                  <a:srgbClr val="1B365D"/>
                </a:solidFill>
                <a:latin typeface="Arial"/>
              </a:defRPr>
            </a:pPr>
            <a:r>
              <a:t>5. Survival Modeling</a:t>
            </a:r>
          </a:p>
          <a:p>
            <a:pPr>
              <a:spcBef>
                <a:spcPts val="400"/>
              </a:spcBef>
              <a:defRPr sz="1050" b="1">
                <a:solidFill>
                  <a:srgbClr val="059669"/>
                </a:solidFill>
                <a:latin typeface="Arial"/>
              </a:defRPr>
            </a:pPr>
            <a:r>
              <a:t>L2 Regularized Cox PH</a:t>
            </a:r>
          </a:p>
          <a:p>
            <a:pPr>
              <a:spcBef>
                <a:spcPts val="800"/>
              </a:spcBef>
              <a:defRPr sz="1000">
                <a:solidFill>
                  <a:srgbClr val="64748B"/>
                </a:solidFill>
                <a:latin typeface="Arial"/>
              </a:defRPr>
            </a:pPr>
            <a:r>
              <a:t>Pure Ridge penalty (penalizer=0.1). 10-fold CV C-Index, Kaplan-Meier curves, and Log-Rank tests.</a:t>
            </a:r>
          </a:p>
        </p:txBody>
      </p:sp>
      <p:sp>
        <p:nvSpPr>
          <p:cNvPr id="20" name="Rectangle 19"/>
          <p:cNvSpPr/>
          <p:nvPr/>
        </p:nvSpPr>
        <p:spPr>
          <a:xfrm>
            <a:off x="731520" y="5486400"/>
            <a:ext cx="10698480" cy="777240"/>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32120"/>
            <a:ext cx="10332720" cy="685800"/>
          </a:xfrm>
          <a:prstGeom prst="rect">
            <a:avLst/>
          </a:prstGeom>
          <a:noFill/>
        </p:spPr>
        <p:txBody>
          <a:bodyPr wrap="square">
            <a:spAutoFit/>
          </a:bodyPr>
          <a:lstStyle/>
          <a:p>
            <a:pPr>
              <a:defRPr sz="1100" b="1">
                <a:solidFill>
                  <a:srgbClr val="2563EB"/>
                </a:solidFill>
                <a:latin typeface="Arial"/>
              </a:defRPr>
            </a:pPr>
            <a:r>
              <a:t>CRITICAL ARCHITECTURAL DISTINCTION: HONEST FOLD ISOLATION</a:t>
            </a:r>
          </a:p>
          <a:p>
            <a:pPr>
              <a:defRPr sz="1000">
                <a:solidFill>
                  <a:srgbClr val="1E293B"/>
                </a:solidFill>
                <a:latin typeface="Arial"/>
              </a:defRPr>
            </a:pPr>
            <a:r>
              <a:t>In the honest leak-free pipeline, both SMOTE generation and radiomic pruning are computed strictly inside CV training splits. Test folds remain 100% unseen and un-interpolated, preventing optimistic C-index inflation.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GENERATIVE MODELING &amp; TIE-BREAKING</a:t>
            </a:r>
          </a:p>
          <a:p>
            <a:pPr>
              <a:defRPr sz="2100" b="1">
                <a:solidFill>
                  <a:srgbClr val="1B365D"/>
                </a:solidFill>
                <a:latin typeface="Arial"/>
              </a:defRPr>
            </a:pPr>
            <a:r>
              <a:t>Risk Threshold Selection: Naive Bayes 10-Fold CV</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05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76072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5394960" cy="457200"/>
          </a:xfrm>
          <a:prstGeom prst="rect">
            <a:avLst/>
          </a:prstGeom>
          <a:noFill/>
        </p:spPr>
        <p:txBody>
          <a:bodyPr wrap="none">
            <a:spAutoFit/>
          </a:bodyPr>
          <a:lstStyle/>
          <a:p>
            <a:pPr>
              <a:defRPr sz="1300" b="1">
                <a:solidFill>
                  <a:srgbClr val="1B365D"/>
                </a:solidFill>
                <a:latin typeface="Arial"/>
              </a:defRPr>
            </a:pPr>
            <a:r>
              <a:t>Table 1: Naive Bayes 10-Fold CV Balanced Accuracy</a:t>
            </a:r>
          </a:p>
        </p:txBody>
      </p:sp>
      <p:graphicFrame>
        <p:nvGraphicFramePr>
          <p:cNvPr id="7" name="Table 6"/>
          <p:cNvGraphicFramePr>
            <a:graphicFrameLocks noGrp="1"/>
          </p:cNvGraphicFramePr>
          <p:nvPr/>
        </p:nvGraphicFramePr>
        <p:xfrm>
          <a:off x="914400" y="1783080"/>
          <a:ext cx="5394960" cy="1810512"/>
        </p:xfrm>
        <a:graphic>
          <a:graphicData uri="http://schemas.openxmlformats.org/drawingml/2006/table">
            <a:tbl>
              <a:tblPr firstRow="1" bandRow="1">
                <a:tableStyleId>{5C22544A-7EE6-4342-B048-85BDC9FD1C3A}</a:tableStyleId>
              </a:tblPr>
              <a:tblGrid>
                <a:gridCol w="868680"/>
                <a:gridCol w="777240"/>
                <a:gridCol w="1143000"/>
                <a:gridCol w="777240"/>
                <a:gridCol w="1828800"/>
              </a:tblGrid>
              <a:tr h="301752">
                <a:tc>
                  <a:txBody>
                    <a:bodyPr/>
                    <a:lstStyle/>
                    <a:p>
                      <a:pPr algn="ctr">
                        <a:defRPr sz="850" b="1">
                          <a:solidFill>
                            <a:srgbClr val="1B365D"/>
                          </a:solidFill>
                        </a:defRPr>
                      </a:pPr>
                      <a:r>
                        <a:t>Threshold</a:t>
                      </a:r>
                    </a:p>
                  </a:txBody>
                  <a:tcPr marT="18288" marB="18288" marL="27432" marR="27432" anchor="ctr">
                    <a:solidFill>
                      <a:srgbClr val="F1F5F9"/>
                    </a:solidFill>
                  </a:tcPr>
                </a:tc>
                <a:tc>
                  <a:txBody>
                    <a:bodyPr/>
                    <a:lstStyle/>
                    <a:p>
                      <a:pPr algn="ctr">
                        <a:defRPr sz="850" b="1">
                          <a:solidFill>
                            <a:srgbClr val="1B365D"/>
                          </a:solidFill>
                        </a:defRPr>
                      </a:pPr>
                      <a:r>
                        <a:t>High / Low</a:t>
                      </a:r>
                    </a:p>
                  </a:txBody>
                  <a:tcPr marT="18288" marB="18288" marL="27432" marR="27432" anchor="ctr">
                    <a:solidFill>
                      <a:srgbClr val="F1F5F9"/>
                    </a:solidFill>
                  </a:tcPr>
                </a:tc>
                <a:tc>
                  <a:txBody>
                    <a:bodyPr/>
                    <a:lstStyle/>
                    <a:p>
                      <a:pPr algn="ctr">
                        <a:defRPr sz="850" b="1">
                          <a:solidFill>
                            <a:srgbClr val="1B365D"/>
                          </a:solidFill>
                        </a:defRPr>
                      </a:pPr>
                      <a:r>
                        <a:t>10-Fold Bal Acc</a:t>
                      </a:r>
                    </a:p>
                  </a:txBody>
                  <a:tcPr marT="18288" marB="18288" marL="27432" marR="27432" anchor="ctr">
                    <a:solidFill>
                      <a:srgbClr val="F1F5F9"/>
                    </a:solidFill>
                  </a:tcPr>
                </a:tc>
                <a:tc>
                  <a:txBody>
                    <a:bodyPr/>
                    <a:lstStyle/>
                    <a:p>
                      <a:pPr algn="ctr">
                        <a:defRPr sz="850" b="1">
                          <a:solidFill>
                            <a:srgbClr val="1B365D"/>
                          </a:solidFill>
                        </a:defRPr>
                      </a:pPr>
                      <a:r>
                        <a:t>Paper (Ref)</a:t>
                      </a:r>
                    </a:p>
                  </a:txBody>
                  <a:tcPr marT="18288" marB="18288" marL="27432" marR="27432" anchor="ctr">
                    <a:solidFill>
                      <a:srgbClr val="F1F5F9"/>
                    </a:solidFill>
                  </a:tcPr>
                </a:tc>
                <a:tc>
                  <a:txBody>
                    <a:bodyPr/>
                    <a:lstStyle/>
                    <a:p>
                      <a:pPr algn="ctr">
                        <a:defRPr sz="850" b="1">
                          <a:solidFill>
                            <a:srgbClr val="1B365D"/>
                          </a:solidFill>
                        </a:defRPr>
                      </a:pPr>
                      <a:r>
                        <a:t>Decision</a:t>
                      </a:r>
                    </a:p>
                  </a:txBody>
                  <a:tcPr marT="18288" marB="18288" marL="27432" marR="27432" anchor="ctr">
                    <a:solidFill>
                      <a:srgbClr val="F1F5F9"/>
                    </a:solidFill>
                  </a:tcPr>
                </a:tc>
              </a:tr>
              <a:tr h="301752">
                <a:tc>
                  <a:txBody>
                    <a:bodyPr/>
                    <a:lstStyle/>
                    <a:p>
                      <a:pPr algn="ctr">
                        <a:defRPr sz="800">
                          <a:solidFill>
                            <a:srgbClr val="1E293B"/>
                          </a:solidFill>
                          <a:latin typeface="Arial"/>
                        </a:defRPr>
                      </a:pPr>
                      <a:r>
                        <a:t>240 days</a:t>
                      </a:r>
                    </a:p>
                  </a:txBody>
                  <a:tcPr marT="18288" marB="18288" marL="27432" marR="27432" anchor="ctr">
                    <a:solidFill>
                      <a:srgbClr val="FFFFFF"/>
                    </a:solidFill>
                  </a:tcPr>
                </a:tc>
                <a:tc>
                  <a:txBody>
                    <a:bodyPr/>
                    <a:lstStyle/>
                    <a:p>
                      <a:pPr algn="ctr">
                        <a:defRPr sz="800">
                          <a:solidFill>
                            <a:srgbClr val="1E293B"/>
                          </a:solidFill>
                          <a:latin typeface="Arial"/>
                        </a:defRPr>
                      </a:pPr>
                      <a:r>
                        <a:t>18 / 62</a:t>
                      </a:r>
                    </a:p>
                  </a:txBody>
                  <a:tcPr marT="18288" marB="18288" marL="27432" marR="27432" anchor="ctr">
                    <a:solidFill>
                      <a:srgbClr val="FFFFFF"/>
                    </a:solidFill>
                  </a:tcPr>
                </a:tc>
                <a:tc>
                  <a:txBody>
                    <a:bodyPr/>
                    <a:lstStyle/>
                    <a:p>
                      <a:pPr algn="ctr">
                        <a:defRPr sz="800">
                          <a:solidFill>
                            <a:srgbClr val="1E293B"/>
                          </a:solidFill>
                          <a:latin typeface="Arial"/>
                        </a:defRPr>
                      </a:pPr>
                      <a:r>
                        <a:t>0.64 ± 0.17</a:t>
                      </a:r>
                    </a:p>
                  </a:txBody>
                  <a:tcPr marT="18288" marB="18288" marL="27432" marR="27432" anchor="ctr">
                    <a:solidFill>
                      <a:srgbClr val="FFFFFF"/>
                    </a:solidFill>
                  </a:tcPr>
                </a:tc>
                <a:tc>
                  <a:txBody>
                    <a:bodyPr/>
                    <a:lstStyle/>
                    <a:p>
                      <a:pPr algn="ctr">
                        <a:defRPr sz="800">
                          <a:solidFill>
                            <a:srgbClr val="1E293B"/>
                          </a:solidFill>
                          <a:latin typeface="Arial"/>
                        </a:defRPr>
                      </a:pPr>
                      <a:r>
                        <a:t>0.53</a:t>
                      </a:r>
                    </a:p>
                  </a:txBody>
                  <a:tcPr marT="18288" marB="18288" marL="27432" marR="27432" anchor="ctr">
                    <a:solidFill>
                      <a:srgbClr val="FFFFFF"/>
                    </a:solidFill>
                  </a:tcPr>
                </a:tc>
                <a:tc>
                  <a:txBody>
                    <a:bodyPr/>
                    <a:lstStyle/>
                    <a:p>
                      <a:pPr algn="l">
                        <a:defRPr sz="800">
                          <a:solidFill>
                            <a:srgbClr val="1E293B"/>
                          </a:solidFill>
                          <a:latin typeface="Arial"/>
                        </a:defRPr>
                      </a:pPr>
                      <a:r>
                        <a:t>Suboptimal</a:t>
                      </a:r>
                    </a:p>
                  </a:txBody>
                  <a:tcPr marT="18288" marB="18288" marL="27432" marR="27432" anchor="ctr">
                    <a:solidFill>
                      <a:srgbClr val="FFFFFF"/>
                    </a:solidFill>
                  </a:tcPr>
                </a:tc>
              </a:tr>
              <a:tr h="301752">
                <a:tc>
                  <a:txBody>
                    <a:bodyPr/>
                    <a:lstStyle/>
                    <a:p>
                      <a:pPr algn="ctr">
                        <a:defRPr sz="800" b="1">
                          <a:solidFill>
                            <a:srgbClr val="2563EB"/>
                          </a:solidFill>
                          <a:latin typeface="Arial"/>
                        </a:defRPr>
                      </a:pPr>
                      <a:r>
                        <a:t>270 days</a:t>
                      </a:r>
                    </a:p>
                  </a:txBody>
                  <a:tcPr marT="18288" marB="18288" marL="27432" marR="27432" anchor="ctr">
                    <a:solidFill>
                      <a:srgbClr val="EEF2FF"/>
                    </a:solidFill>
                  </a:tcPr>
                </a:tc>
                <a:tc>
                  <a:txBody>
                    <a:bodyPr/>
                    <a:lstStyle/>
                    <a:p>
                      <a:pPr algn="ctr">
                        <a:defRPr sz="800" b="1">
                          <a:solidFill>
                            <a:srgbClr val="2563EB"/>
                          </a:solidFill>
                          <a:latin typeface="Arial"/>
                        </a:defRPr>
                      </a:pPr>
                      <a:r>
                        <a:t>24 / 56</a:t>
                      </a:r>
                    </a:p>
                  </a:txBody>
                  <a:tcPr marT="18288" marB="18288" marL="27432" marR="27432" anchor="ctr">
                    <a:solidFill>
                      <a:srgbClr val="EEF2FF"/>
                    </a:solidFill>
                  </a:tcPr>
                </a:tc>
                <a:tc>
                  <a:txBody>
                    <a:bodyPr/>
                    <a:lstStyle/>
                    <a:p>
                      <a:pPr algn="ctr">
                        <a:defRPr sz="800" b="1">
                          <a:solidFill>
                            <a:srgbClr val="2563EB"/>
                          </a:solidFill>
                          <a:latin typeface="Arial"/>
                        </a:defRPr>
                      </a:pPr>
                      <a:r>
                        <a:t>0.74 ± 0.11</a:t>
                      </a:r>
                    </a:p>
                  </a:txBody>
                  <a:tcPr marT="18288" marB="18288" marL="27432" marR="27432" anchor="ctr">
                    <a:solidFill>
                      <a:srgbClr val="EEF2FF"/>
                    </a:solidFill>
                  </a:tcPr>
                </a:tc>
                <a:tc>
                  <a:txBody>
                    <a:bodyPr/>
                    <a:lstStyle/>
                    <a:p>
                      <a:pPr algn="ctr">
                        <a:defRPr sz="800" b="1">
                          <a:solidFill>
                            <a:srgbClr val="2563EB"/>
                          </a:solidFill>
                          <a:latin typeface="Arial"/>
                        </a:defRPr>
                      </a:pPr>
                      <a:r>
                        <a:t>0.69</a:t>
                      </a:r>
                    </a:p>
                  </a:txBody>
                  <a:tcPr marT="18288" marB="18288" marL="27432" marR="27432" anchor="ctr">
                    <a:solidFill>
                      <a:srgbClr val="EEF2FF"/>
                    </a:solidFill>
                  </a:tcPr>
                </a:tc>
                <a:tc>
                  <a:txBody>
                    <a:bodyPr/>
                    <a:lstStyle/>
                    <a:p>
                      <a:pPr algn="l">
                        <a:defRPr sz="800" b="1">
                          <a:solidFill>
                            <a:srgbClr val="2563EB"/>
                          </a:solidFill>
                          <a:latin typeface="Arial"/>
                        </a:defRPr>
                      </a:pPr>
                      <a:r>
                        <a:t>Selected Optimal (Tie winner)</a:t>
                      </a:r>
                    </a:p>
                  </a:txBody>
                  <a:tcPr marT="18288" marB="18288" marL="27432" marR="27432" anchor="ctr">
                    <a:solidFill>
                      <a:srgbClr val="EEF2FF"/>
                    </a:solidFill>
                  </a:tcPr>
                </a:tc>
              </a:tr>
              <a:tr h="301752">
                <a:tc>
                  <a:txBody>
                    <a:bodyPr/>
                    <a:lstStyle/>
                    <a:p>
                      <a:pPr algn="ctr">
                        <a:defRPr sz="800">
                          <a:solidFill>
                            <a:srgbClr val="1E293B"/>
                          </a:solidFill>
                          <a:latin typeface="Arial"/>
                        </a:defRPr>
                      </a:pPr>
                      <a:r>
                        <a:t>300 days</a:t>
                      </a:r>
                    </a:p>
                  </a:txBody>
                  <a:tcPr marT="18288" marB="18288" marL="27432" marR="27432" anchor="ctr">
                    <a:solidFill>
                      <a:srgbClr val="FFFFFF"/>
                    </a:solidFill>
                  </a:tcPr>
                </a:tc>
                <a:tc>
                  <a:txBody>
                    <a:bodyPr/>
                    <a:lstStyle/>
                    <a:p>
                      <a:pPr algn="ctr">
                        <a:defRPr sz="800">
                          <a:solidFill>
                            <a:srgbClr val="1E293B"/>
                          </a:solidFill>
                          <a:latin typeface="Arial"/>
                        </a:defRPr>
                      </a:pPr>
                      <a:r>
                        <a:t>24 / 56</a:t>
                      </a:r>
                    </a:p>
                  </a:txBody>
                  <a:tcPr marT="18288" marB="18288" marL="27432" marR="27432" anchor="ctr">
                    <a:solidFill>
                      <a:srgbClr val="FFFFFF"/>
                    </a:solidFill>
                  </a:tcPr>
                </a:tc>
                <a:tc>
                  <a:txBody>
                    <a:bodyPr/>
                    <a:lstStyle/>
                    <a:p>
                      <a:pPr algn="ctr">
                        <a:defRPr sz="800">
                          <a:solidFill>
                            <a:srgbClr val="1E293B"/>
                          </a:solidFill>
                          <a:latin typeface="Arial"/>
                        </a:defRPr>
                      </a:pPr>
                      <a:r>
                        <a:t>0.74 ± 0.11</a:t>
                      </a:r>
                    </a:p>
                  </a:txBody>
                  <a:tcPr marT="18288" marB="18288" marL="27432" marR="27432" anchor="ctr">
                    <a:solidFill>
                      <a:srgbClr val="FFFFFF"/>
                    </a:solidFill>
                  </a:tcPr>
                </a:tc>
                <a:tc>
                  <a:txBody>
                    <a:bodyPr/>
                    <a:lstStyle/>
                    <a:p>
                      <a:pPr algn="ctr">
                        <a:defRPr sz="800">
                          <a:solidFill>
                            <a:srgbClr val="1E293B"/>
                          </a:solidFill>
                          <a:latin typeface="Arial"/>
                        </a:defRPr>
                      </a:pPr>
                      <a:r>
                        <a:t>0.61</a:t>
                      </a:r>
                    </a:p>
                  </a:txBody>
                  <a:tcPr marT="18288" marB="18288" marL="27432" marR="27432" anchor="ctr">
                    <a:solidFill>
                      <a:srgbClr val="FFFFFF"/>
                    </a:solidFill>
                  </a:tcPr>
                </a:tc>
                <a:tc>
                  <a:txBody>
                    <a:bodyPr/>
                    <a:lstStyle/>
                    <a:p>
                      <a:pPr algn="l">
                        <a:defRPr sz="800">
                          <a:solidFill>
                            <a:srgbClr val="1E293B"/>
                          </a:solidFill>
                          <a:latin typeface="Arial"/>
                        </a:defRPr>
                      </a:pPr>
                      <a:r>
                        <a:t>Tied (Discarded: 300d &gt; 270d)</a:t>
                      </a:r>
                    </a:p>
                  </a:txBody>
                  <a:tcPr marT="18288" marB="18288" marL="27432" marR="27432" anchor="ctr">
                    <a:solidFill>
                      <a:srgbClr val="FFFFFF"/>
                    </a:solidFill>
                  </a:tcPr>
                </a:tc>
              </a:tr>
              <a:tr h="301752">
                <a:tc>
                  <a:txBody>
                    <a:bodyPr/>
                    <a:lstStyle/>
                    <a:p>
                      <a:pPr algn="ctr">
                        <a:defRPr sz="800">
                          <a:solidFill>
                            <a:srgbClr val="1E293B"/>
                          </a:solidFill>
                          <a:latin typeface="Arial"/>
                        </a:defRPr>
                      </a:pPr>
                      <a:r>
                        <a:t>330 days</a:t>
                      </a:r>
                    </a:p>
                  </a:txBody>
                  <a:tcPr marT="18288" marB="18288" marL="27432" marR="27432" anchor="ctr">
                    <a:solidFill>
                      <a:srgbClr val="FFFFFF"/>
                    </a:solidFill>
                  </a:tcPr>
                </a:tc>
                <a:tc>
                  <a:txBody>
                    <a:bodyPr/>
                    <a:lstStyle/>
                    <a:p>
                      <a:pPr algn="ctr">
                        <a:defRPr sz="800">
                          <a:solidFill>
                            <a:srgbClr val="1E293B"/>
                          </a:solidFill>
                          <a:latin typeface="Arial"/>
                        </a:defRPr>
                      </a:pPr>
                      <a:r>
                        <a:t>25 / 55</a:t>
                      </a:r>
                    </a:p>
                  </a:txBody>
                  <a:tcPr marT="18288" marB="18288" marL="27432" marR="27432" anchor="ctr">
                    <a:solidFill>
                      <a:srgbClr val="FFFFFF"/>
                    </a:solidFill>
                  </a:tcPr>
                </a:tc>
                <a:tc>
                  <a:txBody>
                    <a:bodyPr/>
                    <a:lstStyle/>
                    <a:p>
                      <a:pPr algn="ctr">
                        <a:defRPr sz="800">
                          <a:solidFill>
                            <a:srgbClr val="1E293B"/>
                          </a:solidFill>
                          <a:latin typeface="Arial"/>
                        </a:defRPr>
                      </a:pPr>
                      <a:r>
                        <a:t>0.74 ± 0.14</a:t>
                      </a:r>
                    </a:p>
                  </a:txBody>
                  <a:tcPr marT="18288" marB="18288" marL="27432" marR="27432" anchor="ctr">
                    <a:solidFill>
                      <a:srgbClr val="FFFFFF"/>
                    </a:solidFill>
                  </a:tcPr>
                </a:tc>
                <a:tc>
                  <a:txBody>
                    <a:bodyPr/>
                    <a:lstStyle/>
                    <a:p>
                      <a:pPr algn="ctr">
                        <a:defRPr sz="800">
                          <a:solidFill>
                            <a:srgbClr val="1E293B"/>
                          </a:solidFill>
                          <a:latin typeface="Arial"/>
                        </a:defRPr>
                      </a:pPr>
                      <a:r>
                        <a:t>0.57</a:t>
                      </a:r>
                    </a:p>
                  </a:txBody>
                  <a:tcPr marT="18288" marB="18288" marL="27432" marR="27432" anchor="ctr">
                    <a:solidFill>
                      <a:srgbClr val="FFFFFF"/>
                    </a:solidFill>
                  </a:tcPr>
                </a:tc>
                <a:tc>
                  <a:txBody>
                    <a:bodyPr/>
                    <a:lstStyle/>
                    <a:p>
                      <a:pPr algn="l">
                        <a:defRPr sz="800">
                          <a:solidFill>
                            <a:srgbClr val="1E293B"/>
                          </a:solidFill>
                          <a:latin typeface="Arial"/>
                        </a:defRPr>
                      </a:pPr>
                      <a:r>
                        <a:t>Tied (Discarded: high variance)</a:t>
                      </a:r>
                    </a:p>
                  </a:txBody>
                  <a:tcPr marT="18288" marB="18288" marL="27432" marR="27432" anchor="ctr">
                    <a:solidFill>
                      <a:srgbClr val="FFFFFF"/>
                    </a:solidFill>
                  </a:tcPr>
                </a:tc>
              </a:tr>
              <a:tr h="301752">
                <a:tc>
                  <a:txBody>
                    <a:bodyPr/>
                    <a:lstStyle/>
                    <a:p>
                      <a:pPr algn="ctr">
                        <a:defRPr sz="800">
                          <a:solidFill>
                            <a:srgbClr val="1E293B"/>
                          </a:solidFill>
                          <a:latin typeface="Arial"/>
                        </a:defRPr>
                      </a:pPr>
                      <a:r>
                        <a:t>360 days</a:t>
                      </a:r>
                    </a:p>
                  </a:txBody>
                  <a:tcPr marT="18288" marB="18288" marL="27432" marR="27432" anchor="ctr">
                    <a:solidFill>
                      <a:srgbClr val="FFFFFF"/>
                    </a:solidFill>
                  </a:tcPr>
                </a:tc>
                <a:tc>
                  <a:txBody>
                    <a:bodyPr/>
                    <a:lstStyle/>
                    <a:p>
                      <a:pPr algn="ctr">
                        <a:defRPr sz="800">
                          <a:solidFill>
                            <a:srgbClr val="1E293B"/>
                          </a:solidFill>
                          <a:latin typeface="Arial"/>
                        </a:defRPr>
                      </a:pPr>
                      <a:r>
                        <a:t>26 / 54</a:t>
                      </a:r>
                    </a:p>
                  </a:txBody>
                  <a:tcPr marT="18288" marB="18288" marL="27432" marR="27432" anchor="ctr">
                    <a:solidFill>
                      <a:srgbClr val="FFFFFF"/>
                    </a:solidFill>
                  </a:tcPr>
                </a:tc>
                <a:tc>
                  <a:txBody>
                    <a:bodyPr/>
                    <a:lstStyle/>
                    <a:p>
                      <a:pPr algn="ctr">
                        <a:defRPr sz="800">
                          <a:solidFill>
                            <a:srgbClr val="1E293B"/>
                          </a:solidFill>
                          <a:latin typeface="Arial"/>
                        </a:defRPr>
                      </a:pPr>
                      <a:r>
                        <a:t>0.72 ± 0.17</a:t>
                      </a:r>
                    </a:p>
                  </a:txBody>
                  <a:tcPr marT="18288" marB="18288" marL="27432" marR="27432" anchor="ctr">
                    <a:solidFill>
                      <a:srgbClr val="FFFFFF"/>
                    </a:solidFill>
                  </a:tcPr>
                </a:tc>
                <a:tc>
                  <a:txBody>
                    <a:bodyPr/>
                    <a:lstStyle/>
                    <a:p>
                      <a:pPr algn="ctr">
                        <a:defRPr sz="800">
                          <a:solidFill>
                            <a:srgbClr val="1E293B"/>
                          </a:solidFill>
                          <a:latin typeface="Arial"/>
                        </a:defRPr>
                      </a:pPr>
                      <a:r>
                        <a:t>0.61</a:t>
                      </a:r>
                    </a:p>
                  </a:txBody>
                  <a:tcPr marT="18288" marB="18288" marL="27432" marR="27432" anchor="ctr">
                    <a:solidFill>
                      <a:srgbClr val="FFFFFF"/>
                    </a:solidFill>
                  </a:tcPr>
                </a:tc>
                <a:tc>
                  <a:txBody>
                    <a:bodyPr/>
                    <a:lstStyle/>
                    <a:p>
                      <a:pPr algn="l">
                        <a:defRPr sz="800">
                          <a:solidFill>
                            <a:srgbClr val="1E293B"/>
                          </a:solidFill>
                          <a:latin typeface="Arial"/>
                        </a:defRPr>
                      </a:pPr>
                      <a:r>
                        <a:t>Suboptimal</a:t>
                      </a:r>
                    </a:p>
                  </a:txBody>
                  <a:tcPr marT="18288" marB="18288" marL="27432" marR="27432" anchor="ctr">
                    <a:solidFill>
                      <a:srgbClr val="FFFFFF"/>
                    </a:solidFill>
                  </a:tcPr>
                </a:tc>
              </a:tr>
            </a:tbl>
          </a:graphicData>
        </a:graphic>
      </p:graphicFrame>
      <p:sp>
        <p:nvSpPr>
          <p:cNvPr id="8" name="TextBox 7"/>
          <p:cNvSpPr txBox="1"/>
          <p:nvPr/>
        </p:nvSpPr>
        <p:spPr>
          <a:xfrm>
            <a:off x="914400" y="3703320"/>
            <a:ext cx="5394960" cy="2377440"/>
          </a:xfrm>
          <a:prstGeom prst="rect">
            <a:avLst/>
          </a:prstGeom>
          <a:noFill/>
        </p:spPr>
        <p:txBody>
          <a:bodyPr wrap="square">
            <a:spAutoFit/>
          </a:bodyPr>
          <a:lstStyle/>
          <a:p>
            <a:pPr>
              <a:defRPr sz="1200" b="1">
                <a:solidFill>
                  <a:srgbClr val="1B365D"/>
                </a:solidFill>
                <a:latin typeface="Arial"/>
              </a:defRPr>
            </a:pPr>
            <a:r>
              <a:t>Explicit Deterministic Tie-Breaking Logic:</a:t>
            </a:r>
          </a:p>
          <a:p>
            <a:pPr>
              <a:spcBef>
                <a:spcPts val="400"/>
              </a:spcBef>
              <a:defRPr sz="1000">
                <a:latin typeface="Arial"/>
              </a:defRPr>
            </a:pPr>
            <a:r>
              <a:rPr b="1">
                <a:solidFill>
                  <a:srgbClr val="1E293B"/>
                </a:solidFill>
              </a:rPr>
              <a:t>• Observation: </a:t>
            </a:r>
            <a:r>
              <a:rPr>
                <a:solidFill>
                  <a:srgbClr val="64748B"/>
                </a:solidFill>
              </a:rPr>
              <a:t>Thresholds 270, 300, and 330 days tie exactly at 0.74 mean balanced accuracy across 10 folds.</a:t>
            </a:r>
          </a:p>
          <a:p>
            <a:pPr>
              <a:spcBef>
                <a:spcPts val="400"/>
              </a:spcBef>
              <a:defRPr sz="1000">
                <a:latin typeface="Arial"/>
              </a:defRPr>
            </a:pPr>
            <a:r>
              <a:rPr b="1">
                <a:solidFill>
                  <a:srgbClr val="1E293B"/>
                </a:solidFill>
              </a:rPr>
              <a:t>• Rule 1 (Lowest CV Variance): </a:t>
            </a:r>
            <a:r>
              <a:rPr>
                <a:solidFill>
                  <a:srgbClr val="64748B"/>
                </a:solidFill>
              </a:rPr>
              <a:t>270d and 300d exhibit standard deviation of 0.105, whereas 330d has higher variance (0.142). 330 days is eliminated.</a:t>
            </a:r>
          </a:p>
          <a:p>
            <a:pPr>
              <a:spcBef>
                <a:spcPts val="400"/>
              </a:spcBef>
              <a:defRPr sz="1000">
                <a:latin typeface="Arial"/>
              </a:defRPr>
            </a:pPr>
            <a:r>
              <a:rPr b="1">
                <a:solidFill>
                  <a:srgbClr val="1E293B"/>
                </a:solidFill>
              </a:rPr>
              <a:t>• Rule 2 (Earliest Conservative Cutoff): </a:t>
            </a:r>
            <a:r>
              <a:rPr>
                <a:solidFill>
                  <a:srgbClr val="64748B"/>
                </a:solidFill>
              </a:rPr>
              <a:t>Between 270d and 300d (both std=0.105), 270 days is selected as the earliest clinical cutoff to prioritize timely oncology intervention.</a:t>
            </a:r>
          </a:p>
        </p:txBody>
      </p:sp>
      <p:sp>
        <p:nvSpPr>
          <p:cNvPr id="9" name="Rectangle 8"/>
          <p:cNvSpPr/>
          <p:nvPr/>
        </p:nvSpPr>
        <p:spPr>
          <a:xfrm>
            <a:off x="6766560" y="1280160"/>
            <a:ext cx="466344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2_naive_bayes_thresholds.png"/>
          <p:cNvPicPr>
            <a:picLocks noChangeAspect="1"/>
          </p:cNvPicPr>
          <p:nvPr/>
        </p:nvPicPr>
        <p:blipFill>
          <a:blip r:embed="rId2"/>
          <a:stretch>
            <a:fillRect/>
          </a:stretch>
        </p:blipFill>
        <p:spPr>
          <a:xfrm>
            <a:off x="6903720" y="1463040"/>
            <a:ext cx="4389120" cy="3840480"/>
          </a:xfrm>
          <a:prstGeom prst="rect">
            <a:avLst/>
          </a:prstGeom>
        </p:spPr>
      </p:pic>
      <p:sp>
        <p:nvSpPr>
          <p:cNvPr id="11" name="TextBox 10"/>
          <p:cNvSpPr txBox="1"/>
          <p:nvPr/>
        </p:nvSpPr>
        <p:spPr>
          <a:xfrm>
            <a:off x="6903720" y="5440680"/>
            <a:ext cx="4389120" cy="640080"/>
          </a:xfrm>
          <a:prstGeom prst="rect">
            <a:avLst/>
          </a:prstGeom>
          <a:noFill/>
        </p:spPr>
        <p:txBody>
          <a:bodyPr wrap="square">
            <a:spAutoFit/>
          </a:bodyPr>
          <a:lstStyle/>
          <a:p>
            <a:pPr>
              <a:defRPr sz="950">
                <a:solidFill>
                  <a:srgbClr val="64748B"/>
                </a:solidFill>
                <a:latin typeface="Arial"/>
              </a:defRPr>
            </a:pPr>
            <a:r>
              <a:t>Figure 2: Naive Bayes 10-fold CV balanced accuracy bar chart illustrating the 0.74 tie across [270, 300, 330] days and standard deviation error bars.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MINORITY CLASS OVERSAMPLING</a:t>
            </a:r>
          </a:p>
          <a:p>
            <a:pPr>
              <a:defRPr sz="2100" b="1">
                <a:solidFill>
                  <a:srgbClr val="1B365D"/>
                </a:solidFill>
                <a:latin typeface="Arial"/>
              </a:defRPr>
            </a:pPr>
            <a:r>
              <a:t>Addressing Extreme Imbalance: 5-NN SMOTE</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06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10698480" cy="8229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25880"/>
            <a:ext cx="10332720" cy="731520"/>
          </a:xfrm>
          <a:prstGeom prst="rect">
            <a:avLst/>
          </a:prstGeom>
          <a:noFill/>
        </p:spPr>
        <p:txBody>
          <a:bodyPr wrap="square">
            <a:spAutoFit/>
          </a:bodyPr>
          <a:lstStyle/>
          <a:p>
            <a:pPr>
              <a:defRPr sz="1100" b="1">
                <a:solidFill>
                  <a:srgbClr val="1B365D"/>
                </a:solidFill>
                <a:latin typeface="Arial"/>
              </a:defRPr>
            </a:pPr>
            <a:r>
              <a:t>5-NN SMOTE OVERSAMPLING ACROSS 912-DIMENSIONAL MULTIMODAL SPACE</a:t>
            </a:r>
          </a:p>
          <a:p>
            <a:pPr>
              <a:defRPr sz="1000">
                <a:solidFill>
                  <a:srgbClr val="64748B"/>
                </a:solidFill>
                <a:latin typeface="Arial"/>
              </a:defRPr>
            </a:pPr>
            <a:r>
              <a:t>At the selected 270-day threshold, the cohort contains only 24 High-Risk (survival &lt; 270d) vs. 56 Low-Risk patients. Applying 5-nearest-neighbor SMOTE synthesizes 32 realistic minority instances, expanding the dataset from 80 to 112 patients.</a:t>
            </a:r>
          </a:p>
        </p:txBody>
      </p:sp>
      <p:sp>
        <p:nvSpPr>
          <p:cNvPr id="7" name="Rectangle 6"/>
          <p:cNvSpPr/>
          <p:nvPr/>
        </p:nvSpPr>
        <p:spPr>
          <a:xfrm>
            <a:off x="731520" y="2240280"/>
            <a:ext cx="5212080" cy="397763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_clinical_pre_smote.png"/>
          <p:cNvPicPr>
            <a:picLocks noChangeAspect="1"/>
          </p:cNvPicPr>
          <p:nvPr/>
        </p:nvPicPr>
        <p:blipFill>
          <a:blip r:embed="rId2"/>
          <a:stretch>
            <a:fillRect/>
          </a:stretch>
        </p:blipFill>
        <p:spPr>
          <a:xfrm>
            <a:off x="868680" y="2331720"/>
            <a:ext cx="4937760" cy="3108960"/>
          </a:xfrm>
          <a:prstGeom prst="rect">
            <a:avLst/>
          </a:prstGeom>
        </p:spPr>
      </p:pic>
      <p:sp>
        <p:nvSpPr>
          <p:cNvPr id="9" name="TextBox 8"/>
          <p:cNvSpPr txBox="1"/>
          <p:nvPr/>
        </p:nvSpPr>
        <p:spPr>
          <a:xfrm>
            <a:off x="868680" y="5577840"/>
            <a:ext cx="4937760" cy="548640"/>
          </a:xfrm>
          <a:prstGeom prst="rect">
            <a:avLst/>
          </a:prstGeom>
          <a:noFill/>
        </p:spPr>
        <p:txBody>
          <a:bodyPr wrap="square">
            <a:spAutoFit/>
          </a:bodyPr>
          <a:lstStyle/>
          <a:p>
            <a:pPr>
              <a:defRPr sz="950" b="1">
                <a:solidFill>
                  <a:srgbClr val="1B365D"/>
                </a:solidFill>
              </a:defRPr>
            </a:pPr>
            <a:r>
              <a:t>Figure 1: Original Cohort (n=80) — Stage IIB &amp; III distributions exhibit sparse high-risk representation.</a:t>
            </a:r>
          </a:p>
        </p:txBody>
      </p:sp>
      <p:sp>
        <p:nvSpPr>
          <p:cNvPr id="10" name="Rectangle 9"/>
          <p:cNvSpPr/>
          <p:nvPr/>
        </p:nvSpPr>
        <p:spPr>
          <a:xfrm>
            <a:off x="6217920" y="2240280"/>
            <a:ext cx="5212080" cy="397763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3_clinical_post_smote.png"/>
          <p:cNvPicPr>
            <a:picLocks noChangeAspect="1"/>
          </p:cNvPicPr>
          <p:nvPr/>
        </p:nvPicPr>
        <p:blipFill>
          <a:blip r:embed="rId3"/>
          <a:stretch>
            <a:fillRect/>
          </a:stretch>
        </p:blipFill>
        <p:spPr>
          <a:xfrm>
            <a:off x="6355080" y="2331720"/>
            <a:ext cx="4937760" cy="3108960"/>
          </a:xfrm>
          <a:prstGeom prst="rect">
            <a:avLst/>
          </a:prstGeom>
        </p:spPr>
      </p:pic>
      <p:sp>
        <p:nvSpPr>
          <p:cNvPr id="12" name="TextBox 11"/>
          <p:cNvSpPr txBox="1"/>
          <p:nvPr/>
        </p:nvSpPr>
        <p:spPr>
          <a:xfrm>
            <a:off x="6355080" y="5577840"/>
            <a:ext cx="4937760" cy="548640"/>
          </a:xfrm>
          <a:prstGeom prst="rect">
            <a:avLst/>
          </a:prstGeom>
          <a:noFill/>
        </p:spPr>
        <p:txBody>
          <a:bodyPr wrap="square">
            <a:spAutoFit/>
          </a:bodyPr>
          <a:lstStyle/>
          <a:p>
            <a:pPr>
              <a:defRPr sz="950" b="1">
                <a:solidFill>
                  <a:srgbClr val="1B365D"/>
                </a:solidFill>
              </a:defRPr>
            </a:pPr>
            <a:r>
              <a:t>Figure 3: Post-SMOTE Cohort (n=112) — Synthesized minority samples populate high-risk regions in joint space.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DIMENSIONALITY REDUCTION &amp; SURVIVAL THEORY</a:t>
            </a:r>
          </a:p>
          <a:p>
            <a:pPr>
              <a:defRPr sz="2100" b="1">
                <a:solidFill>
                  <a:srgbClr val="1B365D"/>
                </a:solidFill>
                <a:latin typeface="Arial"/>
              </a:defRPr>
            </a:pPr>
            <a:r>
              <a:t>Feature Pruning &amp; Regularized Cox Regression</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07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846320" cy="4572000"/>
          </a:xfrm>
          <a:prstGeom prst="rect">
            <a:avLst/>
          </a:prstGeom>
          <a:noFill/>
        </p:spPr>
        <p:txBody>
          <a:bodyPr wrap="square">
            <a:spAutoFit/>
          </a:bodyPr>
          <a:lstStyle/>
          <a:p>
            <a:pPr>
              <a:defRPr sz="1600" b="1">
                <a:solidFill>
                  <a:srgbClr val="1B365D"/>
                </a:solidFill>
                <a:latin typeface="Arial"/>
              </a:defRPr>
            </a:pPr>
            <a:r>
              <a:t>Variance Error Band Radiomic Pruning</a:t>
            </a:r>
          </a:p>
          <a:p>
            <a:pPr>
              <a:spcBef>
                <a:spcPts val="800"/>
              </a:spcBef>
              <a:defRPr sz="1100">
                <a:latin typeface="Arial"/>
              </a:defRPr>
            </a:pPr>
            <a:r>
              <a:rPr b="1">
                <a:solidFill>
                  <a:srgbClr val="1E293B"/>
                </a:solidFill>
              </a:rPr>
              <a:t>• The Collinearity Crisis: </a:t>
            </a:r>
            <a:r>
              <a:rPr>
                <a:solidFill>
                  <a:srgbClr val="64748B"/>
                </a:solidFill>
              </a:rPr>
              <a:t>Fitting an unregularized Cox model on 900 radiomic features across 80 patients yields severe multicollinearity, causing partial likelihood gradient explosion.</a:t>
            </a:r>
          </a:p>
          <a:p>
            <a:pPr>
              <a:spcBef>
                <a:spcPts val="800"/>
              </a:spcBef>
              <a:defRPr sz="1100">
                <a:latin typeface="Arial"/>
              </a:defRPr>
            </a:pPr>
            <a:r>
              <a:rPr b="1">
                <a:solidFill>
                  <a:srgbClr val="1E293B"/>
                </a:solidFill>
              </a:rPr>
              <a:t>• The &gt;1.0 SE Pruning Rule: </a:t>
            </a:r>
            <a:r>
              <a:rPr>
                <a:solidFill>
                  <a:srgbClr val="64748B"/>
                </a:solidFill>
              </a:rPr>
              <a:t>Following Jamalian (2020), an initial Cox regression is fit. Radiomic features exhibiting coefficient standard error &gt; 1.0 (SE &gt; 1.0) are eliminated.</a:t>
            </a:r>
          </a:p>
          <a:p>
            <a:pPr>
              <a:spcBef>
                <a:spcPts val="800"/>
              </a:spcBef>
              <a:defRPr sz="1100">
                <a:latin typeface="Arial"/>
              </a:defRPr>
            </a:pPr>
            <a:r>
              <a:rPr b="1">
                <a:solidFill>
                  <a:srgbClr val="1E293B"/>
                </a:solidFill>
              </a:rPr>
              <a:t>• Dimensionality Reduction: </a:t>
            </a:r>
            <a:r>
              <a:rPr>
                <a:solidFill>
                  <a:srgbClr val="64748B"/>
                </a:solidFill>
              </a:rPr>
              <a:t>This rule drops 410 unstable, highly collinear features, retaining exactly 490 robust radiomic descriptors.</a:t>
            </a:r>
          </a:p>
          <a:p>
            <a:pPr>
              <a:spcBef>
                <a:spcPts val="800"/>
              </a:spcBef>
              <a:defRPr sz="1100">
                <a:latin typeface="Arial"/>
              </a:defRPr>
            </a:pPr>
            <a:r>
              <a:rPr b="1">
                <a:solidFill>
                  <a:srgbClr val="1E293B"/>
                </a:solidFill>
              </a:rPr>
              <a:t>• Honest Leak-Free Constraint: </a:t>
            </a:r>
            <a:r>
              <a:rPr>
                <a:solidFill>
                  <a:srgbClr val="64748B"/>
                </a:solidFill>
              </a:rPr>
              <a:t>In our honest pipeline, the standard error pruning mask is decided strictly using training fold data, preventing test set leakage.</a:t>
            </a:r>
          </a:p>
        </p:txBody>
      </p:sp>
      <p:sp>
        <p:nvSpPr>
          <p:cNvPr id="7" name="Rectangle 6"/>
          <p:cNvSpPr/>
          <p:nvPr/>
        </p:nvSpPr>
        <p:spPr>
          <a:xfrm>
            <a:off x="62179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63040"/>
            <a:ext cx="4846320" cy="4572000"/>
          </a:xfrm>
          <a:prstGeom prst="rect">
            <a:avLst/>
          </a:prstGeom>
          <a:noFill/>
        </p:spPr>
        <p:txBody>
          <a:bodyPr wrap="square">
            <a:spAutoFit/>
          </a:bodyPr>
          <a:lstStyle/>
          <a:p>
            <a:pPr>
              <a:defRPr sz="1600" b="1">
                <a:solidFill>
                  <a:srgbClr val="1B365D"/>
                </a:solidFill>
                <a:latin typeface="Arial"/>
              </a:defRPr>
            </a:pPr>
            <a:r>
              <a:t>Regularized Cox Proportional Hazards Model</a:t>
            </a:r>
          </a:p>
          <a:p>
            <a:pPr>
              <a:spcBef>
                <a:spcPts val="800"/>
              </a:spcBef>
              <a:defRPr sz="1100">
                <a:latin typeface="Arial"/>
              </a:defRPr>
            </a:pPr>
            <a:r>
              <a:rPr b="1">
                <a:solidFill>
                  <a:srgbClr val="1E293B"/>
                </a:solidFill>
              </a:rPr>
              <a:t>• Hazard Formulation: </a:t>
            </a:r>
            <a:r>
              <a:rPr>
                <a:solidFill>
                  <a:srgbClr val="64748B"/>
                </a:solidFill>
              </a:rPr>
              <a:t>Models survival hazard as h(t|x) = h0(t) exp(beta^T x), where h0(t) is the non-parametric baseline hazard and beta represents log hazard ratios.</a:t>
            </a:r>
          </a:p>
          <a:p>
            <a:pPr>
              <a:spcBef>
                <a:spcPts val="800"/>
              </a:spcBef>
              <a:defRPr sz="1100">
                <a:latin typeface="Arial"/>
              </a:defRPr>
            </a:pPr>
            <a:r>
              <a:rPr b="1">
                <a:solidFill>
                  <a:srgbClr val="1E293B"/>
                </a:solidFill>
              </a:rPr>
              <a:t>• Log Partial Likelihood: </a:t>
            </a:r>
            <a:r>
              <a:rPr>
                <a:solidFill>
                  <a:srgbClr val="64748B"/>
                </a:solidFill>
              </a:rPr>
              <a:t>Estimated by maximizing the Breslow partial likelihood over observed event times: log L(beta) = sum_{i: E_i=1} [beta^T x_i - log sum_{j in R(t_i)} exp(beta^T x_j)].</a:t>
            </a:r>
          </a:p>
          <a:p>
            <a:pPr>
              <a:spcBef>
                <a:spcPts val="800"/>
              </a:spcBef>
              <a:defRPr sz="1100">
                <a:latin typeface="Arial"/>
              </a:defRPr>
            </a:pPr>
            <a:r>
              <a:rPr b="1">
                <a:solidFill>
                  <a:srgbClr val="1E293B"/>
                </a:solidFill>
              </a:rPr>
              <a:t>• Pure L2 Regularization: </a:t>
            </a:r>
            <a:r>
              <a:rPr>
                <a:solidFill>
                  <a:srgbClr val="64748B"/>
                </a:solidFill>
              </a:rPr>
              <a:t>Penalized log-likelihood: log L_pen = log L(beta) - (lambda / 2) ||beta||_2^2. Specified with penalizer=0.1, l1_ratio=0.0 in lifelines.</a:t>
            </a:r>
          </a:p>
          <a:p>
            <a:pPr>
              <a:spcBef>
                <a:spcPts val="800"/>
              </a:spcBef>
              <a:defRPr sz="1100">
                <a:latin typeface="Arial"/>
              </a:defRPr>
            </a:pPr>
            <a:r>
              <a:rPr b="1">
                <a:solidFill>
                  <a:srgbClr val="1E293B"/>
                </a:solidFill>
              </a:rPr>
              <a:t>• Clarification on Penalty: </a:t>
            </a:r>
            <a:r>
              <a:rPr>
                <a:solidFill>
                  <a:srgbClr val="64748B"/>
                </a:solidFill>
              </a:rPr>
              <a:t>The model employs pure L2 (Ridge) regularization rather than ElasticNet. Prior pruning already filtered collinear noise, so L2 stabilizes remaining weights smoothly.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EXPERIMENTAL BENCHMARKS (TABLE 2 &amp; 2B)</a:t>
            </a:r>
          </a:p>
          <a:p>
            <a:pPr>
              <a:defRPr sz="2100" b="1">
                <a:solidFill>
                  <a:srgbClr val="1B365D"/>
                </a:solidFill>
                <a:latin typeface="Arial"/>
              </a:defRPr>
            </a:pPr>
            <a:r>
              <a:t>Cox PH Model Evaluation &amp; CV Leakage Analysis</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08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10698480" cy="233172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320040"/>
          </a:xfrm>
          <a:prstGeom prst="rect">
            <a:avLst/>
          </a:prstGeom>
          <a:noFill/>
        </p:spPr>
        <p:txBody>
          <a:bodyPr wrap="none">
            <a:spAutoFit/>
          </a:bodyPr>
          <a:lstStyle/>
          <a:p>
            <a:pPr>
              <a:defRPr sz="1300" b="1">
                <a:solidFill>
                  <a:srgbClr val="1B365D"/>
                </a:solidFill>
              </a:defRPr>
            </a:pPr>
            <a:r>
              <a:t>Table 2 &amp; 2b: 10-Fold CV Concordance Index (Leak-Free vs. Leaky Pipeline Comparison)</a:t>
            </a:r>
          </a:p>
        </p:txBody>
      </p:sp>
      <p:graphicFrame>
        <p:nvGraphicFramePr>
          <p:cNvPr id="7" name="Table 6"/>
          <p:cNvGraphicFramePr>
            <a:graphicFrameLocks noGrp="1"/>
          </p:cNvGraphicFramePr>
          <p:nvPr/>
        </p:nvGraphicFramePr>
        <p:xfrm>
          <a:off x="914400" y="1737360"/>
          <a:ext cx="10332720" cy="1737360"/>
        </p:xfrm>
        <a:graphic>
          <a:graphicData uri="http://schemas.openxmlformats.org/drawingml/2006/table">
            <a:tbl>
              <a:tblPr firstRow="1" bandRow="1">
                <a:tableStyleId>{5C22544A-7EE6-4342-B048-85BDC9FD1C3A}</a:tableStyleId>
              </a:tblPr>
              <a:tblGrid>
                <a:gridCol w="2468880"/>
                <a:gridCol w="1005840"/>
                <a:gridCol w="1828800"/>
                <a:gridCol w="1828800"/>
                <a:gridCol w="1280160"/>
                <a:gridCol w="1920240"/>
              </a:tblGrid>
              <a:tr h="434340">
                <a:tc>
                  <a:txBody>
                    <a:bodyPr/>
                    <a:lstStyle/>
                    <a:p>
                      <a:pPr algn="ctr">
                        <a:defRPr sz="900" b="1">
                          <a:solidFill>
                            <a:srgbClr val="1B365D"/>
                          </a:solidFill>
                        </a:defRPr>
                      </a:pPr>
                      <a:r>
                        <a:t>Feature Set</a:t>
                      </a:r>
                    </a:p>
                  </a:txBody>
                  <a:tcPr marT="27432" marB="27432" marL="36576" marR="36576" anchor="ctr">
                    <a:solidFill>
                      <a:srgbClr val="F1F5F9"/>
                    </a:solidFill>
                  </a:tcPr>
                </a:tc>
                <a:tc>
                  <a:txBody>
                    <a:bodyPr/>
                    <a:lstStyle/>
                    <a:p>
                      <a:pPr algn="ctr">
                        <a:defRPr sz="900" b="1">
                          <a:solidFill>
                            <a:srgbClr val="1B365D"/>
                          </a:solidFill>
                        </a:defRPr>
                      </a:pPr>
                      <a:r>
                        <a:t>Features</a:t>
                      </a:r>
                    </a:p>
                  </a:txBody>
                  <a:tcPr marT="27432" marB="27432" marL="36576" marR="36576" anchor="ctr">
                    <a:solidFill>
                      <a:srgbClr val="F1F5F9"/>
                    </a:solidFill>
                  </a:tcPr>
                </a:tc>
                <a:tc>
                  <a:txBody>
                    <a:bodyPr/>
                    <a:lstStyle/>
                    <a:p>
                      <a:pPr algn="ctr">
                        <a:defRPr sz="900" b="1">
                          <a:solidFill>
                            <a:srgbClr val="1B365D"/>
                          </a:solidFill>
                        </a:defRPr>
                      </a:pPr>
                      <a:r>
                        <a:t>Honest Leak-Free C-Index</a:t>
                      </a:r>
                    </a:p>
                  </a:txBody>
                  <a:tcPr marT="27432" marB="27432" marL="36576" marR="36576" anchor="ctr">
                    <a:solidFill>
                      <a:srgbClr val="F1F5F9"/>
                    </a:solidFill>
                  </a:tcPr>
                </a:tc>
                <a:tc>
                  <a:txBody>
                    <a:bodyPr/>
                    <a:lstStyle/>
                    <a:p>
                      <a:pPr algn="ctr">
                        <a:defRPr sz="900" b="1">
                          <a:solidFill>
                            <a:srgbClr val="1B365D"/>
                          </a:solidFill>
                        </a:defRPr>
                      </a:pPr>
                      <a:r>
                        <a:t>Paper-Style Leaky C-Index</a:t>
                      </a:r>
                    </a:p>
                  </a:txBody>
                  <a:tcPr marT="27432" marB="27432" marL="36576" marR="36576" anchor="ctr">
                    <a:solidFill>
                      <a:srgbClr val="F1F5F9"/>
                    </a:solidFill>
                  </a:tcPr>
                </a:tc>
                <a:tc>
                  <a:txBody>
                    <a:bodyPr/>
                    <a:lstStyle/>
                    <a:p>
                      <a:pPr algn="ctr">
                        <a:defRPr sz="900" b="1">
                          <a:solidFill>
                            <a:srgbClr val="1B365D"/>
                          </a:solidFill>
                        </a:defRPr>
                      </a:pPr>
                      <a:r>
                        <a:t>Leakage Delta</a:t>
                      </a:r>
                    </a:p>
                  </a:txBody>
                  <a:tcPr marT="27432" marB="27432" marL="36576" marR="36576" anchor="ctr">
                    <a:solidFill>
                      <a:srgbClr val="F1F5F9"/>
                    </a:solidFill>
                  </a:tcPr>
                </a:tc>
                <a:tc>
                  <a:txBody>
                    <a:bodyPr/>
                    <a:lstStyle/>
                    <a:p>
                      <a:pPr algn="ctr">
                        <a:defRPr sz="900" b="1">
                          <a:solidFill>
                            <a:srgbClr val="1B365D"/>
                          </a:solidFill>
                        </a:defRPr>
                      </a:pPr>
                      <a:r>
                        <a:t>Paper Reference (Context)</a:t>
                      </a:r>
                    </a:p>
                  </a:txBody>
                  <a:tcPr marT="27432" marB="27432" marL="36576" marR="36576" anchor="ctr">
                    <a:solidFill>
                      <a:srgbClr val="F1F5F9"/>
                    </a:solidFill>
                  </a:tcPr>
                </a:tc>
              </a:tr>
              <a:tr h="434340">
                <a:tc>
                  <a:txBody>
                    <a:bodyPr/>
                    <a:lstStyle/>
                    <a:p>
                      <a:pPr algn="l">
                        <a:defRPr sz="900">
                          <a:solidFill>
                            <a:srgbClr val="1E293B"/>
                          </a:solidFill>
                          <a:latin typeface="Arial"/>
                        </a:defRPr>
                      </a:pPr>
                      <a:r>
                        <a:t>Clinical Features</a:t>
                      </a:r>
                    </a:p>
                  </a:txBody>
                  <a:tcPr marT="27432" marB="27432" marL="36576" marR="36576" anchor="ctr">
                    <a:solidFill>
                      <a:srgbClr val="FFFFFF"/>
                    </a:solidFill>
                  </a:tcPr>
                </a:tc>
                <a:tc>
                  <a:txBody>
                    <a:bodyPr/>
                    <a:lstStyle/>
                    <a:p>
                      <a:pPr algn="ctr">
                        <a:defRPr sz="900">
                          <a:solidFill>
                            <a:srgbClr val="1E293B"/>
                          </a:solidFill>
                          <a:latin typeface="Arial"/>
                        </a:defRPr>
                      </a:pPr>
                      <a:r>
                        <a:t>12</a:t>
                      </a:r>
                    </a:p>
                  </a:txBody>
                  <a:tcPr marT="27432" marB="27432" marL="36576" marR="36576" anchor="ctr">
                    <a:solidFill>
                      <a:srgbClr val="FFFFFF"/>
                    </a:solidFill>
                  </a:tcPr>
                </a:tc>
                <a:tc>
                  <a:txBody>
                    <a:bodyPr/>
                    <a:lstStyle/>
                    <a:p>
                      <a:pPr algn="ctr">
                        <a:defRPr sz="900">
                          <a:solidFill>
                            <a:srgbClr val="1E293B"/>
                          </a:solidFill>
                          <a:latin typeface="Arial"/>
                        </a:defRPr>
                      </a:pPr>
                      <a:r>
                        <a:t>0.71 ± 0.088</a:t>
                      </a:r>
                    </a:p>
                  </a:txBody>
                  <a:tcPr marT="27432" marB="27432" marL="36576" marR="36576" anchor="ctr">
                    <a:solidFill>
                      <a:srgbClr val="FFFFFF"/>
                    </a:solidFill>
                  </a:tcPr>
                </a:tc>
                <a:tc>
                  <a:txBody>
                    <a:bodyPr/>
                    <a:lstStyle/>
                    <a:p>
                      <a:pPr algn="ctr">
                        <a:defRPr sz="900">
                          <a:solidFill>
                            <a:srgbClr val="1E293B"/>
                          </a:solidFill>
                          <a:latin typeface="Arial"/>
                        </a:defRPr>
                      </a:pPr>
                      <a:r>
                        <a:t>0.74 ± 0.101</a:t>
                      </a:r>
                    </a:p>
                  </a:txBody>
                  <a:tcPr marT="27432" marB="27432" marL="36576" marR="36576" anchor="ctr">
                    <a:solidFill>
                      <a:srgbClr val="FFFFFF"/>
                    </a:solidFill>
                  </a:tcPr>
                </a:tc>
                <a:tc>
                  <a:txBody>
                    <a:bodyPr/>
                    <a:lstStyle/>
                    <a:p>
                      <a:pPr algn="ctr">
                        <a:defRPr sz="900">
                          <a:solidFill>
                            <a:srgbClr val="1E293B"/>
                          </a:solidFill>
                          <a:latin typeface="Arial"/>
                        </a:defRPr>
                      </a:pPr>
                      <a:r>
                        <a:t>+0.03</a:t>
                      </a:r>
                    </a:p>
                  </a:txBody>
                  <a:tcPr marT="27432" marB="27432" marL="36576" marR="36576" anchor="ctr">
                    <a:solidFill>
                      <a:srgbClr val="FFFFFF"/>
                    </a:solidFill>
                  </a:tcPr>
                </a:tc>
                <a:tc>
                  <a:txBody>
                    <a:bodyPr/>
                    <a:lstStyle/>
                    <a:p>
                      <a:pPr algn="ctr">
                        <a:defRPr sz="900">
                          <a:solidFill>
                            <a:srgbClr val="1E293B"/>
                          </a:solidFill>
                          <a:latin typeface="Arial"/>
                        </a:defRPr>
                      </a:pPr>
                      <a:r>
                        <a:t>0.67 (Real data)</a:t>
                      </a:r>
                    </a:p>
                  </a:txBody>
                  <a:tcPr marT="27432" marB="27432" marL="36576" marR="36576" anchor="ctr">
                    <a:solidFill>
                      <a:srgbClr val="FFFFFF"/>
                    </a:solidFill>
                  </a:tcPr>
                </a:tc>
              </a:tr>
              <a:tr h="434340">
                <a:tc>
                  <a:txBody>
                    <a:bodyPr/>
                    <a:lstStyle/>
                    <a:p>
                      <a:pPr algn="l">
                        <a:defRPr sz="900">
                          <a:solidFill>
                            <a:srgbClr val="1E293B"/>
                          </a:solidFill>
                          <a:latin typeface="Arial"/>
                        </a:defRPr>
                      </a:pPr>
                      <a:r>
                        <a:t>Radiomic Features (Pruned)</a:t>
                      </a:r>
                    </a:p>
                  </a:txBody>
                  <a:tcPr marT="27432" marB="27432" marL="36576" marR="36576" anchor="ctr">
                    <a:solidFill>
                      <a:srgbClr val="FFFFFF"/>
                    </a:solidFill>
                  </a:tcPr>
                </a:tc>
                <a:tc>
                  <a:txBody>
                    <a:bodyPr/>
                    <a:lstStyle/>
                    <a:p>
                      <a:pPr algn="ctr">
                        <a:defRPr sz="900">
                          <a:solidFill>
                            <a:srgbClr val="1E293B"/>
                          </a:solidFill>
                          <a:latin typeface="Arial"/>
                        </a:defRPr>
                      </a:pPr>
                      <a:r>
                        <a:t>490</a:t>
                      </a:r>
                    </a:p>
                  </a:txBody>
                  <a:tcPr marT="27432" marB="27432" marL="36576" marR="36576" anchor="ctr">
                    <a:solidFill>
                      <a:srgbClr val="FFFFFF"/>
                    </a:solidFill>
                  </a:tcPr>
                </a:tc>
                <a:tc>
                  <a:txBody>
                    <a:bodyPr/>
                    <a:lstStyle/>
                    <a:p>
                      <a:pPr algn="ctr">
                        <a:defRPr sz="900">
                          <a:solidFill>
                            <a:srgbClr val="1E293B"/>
                          </a:solidFill>
                          <a:latin typeface="Arial"/>
                        </a:defRPr>
                      </a:pPr>
                      <a:r>
                        <a:t>0.77 ± 0.114</a:t>
                      </a:r>
                    </a:p>
                  </a:txBody>
                  <a:tcPr marT="27432" marB="27432" marL="36576" marR="36576" anchor="ctr">
                    <a:solidFill>
                      <a:srgbClr val="FFFFFF"/>
                    </a:solidFill>
                  </a:tcPr>
                </a:tc>
                <a:tc>
                  <a:txBody>
                    <a:bodyPr/>
                    <a:lstStyle/>
                    <a:p>
                      <a:pPr algn="ctr">
                        <a:defRPr sz="900">
                          <a:solidFill>
                            <a:srgbClr val="1E293B"/>
                          </a:solidFill>
                          <a:latin typeface="Arial"/>
                        </a:defRPr>
                      </a:pPr>
                      <a:r>
                        <a:t>0.83 ± 0.083</a:t>
                      </a:r>
                    </a:p>
                  </a:txBody>
                  <a:tcPr marT="27432" marB="27432" marL="36576" marR="36576" anchor="ctr">
                    <a:solidFill>
                      <a:srgbClr val="FFFFFF"/>
                    </a:solidFill>
                  </a:tcPr>
                </a:tc>
                <a:tc>
                  <a:txBody>
                    <a:bodyPr/>
                    <a:lstStyle/>
                    <a:p>
                      <a:pPr algn="ctr">
                        <a:defRPr sz="900">
                          <a:solidFill>
                            <a:srgbClr val="1E293B"/>
                          </a:solidFill>
                          <a:latin typeface="Arial"/>
                        </a:defRPr>
                      </a:pPr>
                      <a:r>
                        <a:t>+0.06</a:t>
                      </a:r>
                    </a:p>
                  </a:txBody>
                  <a:tcPr marT="27432" marB="27432" marL="36576" marR="36576" anchor="ctr">
                    <a:solidFill>
                      <a:srgbClr val="FFFFFF"/>
                    </a:solidFill>
                  </a:tcPr>
                </a:tc>
                <a:tc>
                  <a:txBody>
                    <a:bodyPr/>
                    <a:lstStyle/>
                    <a:p>
                      <a:pPr algn="ctr">
                        <a:defRPr sz="900">
                          <a:solidFill>
                            <a:srgbClr val="1E293B"/>
                          </a:solidFill>
                          <a:latin typeface="Arial"/>
                        </a:defRPr>
                      </a:pPr>
                      <a:r>
                        <a:t>0.76 (Real data)</a:t>
                      </a:r>
                    </a:p>
                  </a:txBody>
                  <a:tcPr marT="27432" marB="27432" marL="36576" marR="36576" anchor="ctr">
                    <a:solidFill>
                      <a:srgbClr val="FFFFFF"/>
                    </a:solidFill>
                  </a:tcPr>
                </a:tc>
              </a:tr>
              <a:tr h="434340">
                <a:tc>
                  <a:txBody>
                    <a:bodyPr/>
                    <a:lstStyle/>
                    <a:p>
                      <a:pPr algn="l">
                        <a:defRPr sz="900" b="1">
                          <a:solidFill>
                            <a:srgbClr val="2563EB"/>
                          </a:solidFill>
                          <a:latin typeface="Arial"/>
                        </a:defRPr>
                      </a:pPr>
                      <a:r>
                        <a:t>Combined Clinical + Radiomics</a:t>
                      </a:r>
                    </a:p>
                  </a:txBody>
                  <a:tcPr marT="27432" marB="27432" marL="36576" marR="36576" anchor="ctr">
                    <a:solidFill>
                      <a:srgbClr val="EEF2FF"/>
                    </a:solidFill>
                  </a:tcPr>
                </a:tc>
                <a:tc>
                  <a:txBody>
                    <a:bodyPr/>
                    <a:lstStyle/>
                    <a:p>
                      <a:pPr algn="ctr">
                        <a:defRPr sz="900" b="1">
                          <a:solidFill>
                            <a:srgbClr val="2563EB"/>
                          </a:solidFill>
                          <a:latin typeface="Arial"/>
                        </a:defRPr>
                      </a:pPr>
                      <a:r>
                        <a:t>502</a:t>
                      </a:r>
                    </a:p>
                  </a:txBody>
                  <a:tcPr marT="27432" marB="27432" marL="36576" marR="36576" anchor="ctr">
                    <a:solidFill>
                      <a:srgbClr val="EEF2FF"/>
                    </a:solidFill>
                  </a:tcPr>
                </a:tc>
                <a:tc>
                  <a:txBody>
                    <a:bodyPr/>
                    <a:lstStyle/>
                    <a:p>
                      <a:pPr algn="ctr">
                        <a:defRPr sz="900" b="1">
                          <a:solidFill>
                            <a:srgbClr val="2563EB"/>
                          </a:solidFill>
                          <a:latin typeface="Arial"/>
                        </a:defRPr>
                      </a:pPr>
                      <a:r>
                        <a:t>0.80 ± 0.112</a:t>
                      </a:r>
                    </a:p>
                  </a:txBody>
                  <a:tcPr marT="27432" marB="27432" marL="36576" marR="36576" anchor="ctr">
                    <a:solidFill>
                      <a:srgbClr val="EEF2FF"/>
                    </a:solidFill>
                  </a:tcPr>
                </a:tc>
                <a:tc>
                  <a:txBody>
                    <a:bodyPr/>
                    <a:lstStyle/>
                    <a:p>
                      <a:pPr algn="ctr">
                        <a:defRPr sz="900" b="1">
                          <a:solidFill>
                            <a:srgbClr val="2563EB"/>
                          </a:solidFill>
                          <a:latin typeface="Arial"/>
                        </a:defRPr>
                      </a:pPr>
                      <a:r>
                        <a:t>0.86 ± 0.066</a:t>
                      </a:r>
                    </a:p>
                  </a:txBody>
                  <a:tcPr marT="27432" marB="27432" marL="36576" marR="36576" anchor="ctr">
                    <a:solidFill>
                      <a:srgbClr val="EEF2FF"/>
                    </a:solidFill>
                  </a:tcPr>
                </a:tc>
                <a:tc>
                  <a:txBody>
                    <a:bodyPr/>
                    <a:lstStyle/>
                    <a:p>
                      <a:pPr algn="ctr">
                        <a:defRPr sz="900" b="1">
                          <a:solidFill>
                            <a:srgbClr val="2563EB"/>
                          </a:solidFill>
                          <a:latin typeface="Arial"/>
                        </a:defRPr>
                      </a:pPr>
                      <a:r>
                        <a:t>+0.06</a:t>
                      </a:r>
                    </a:p>
                  </a:txBody>
                  <a:tcPr marT="27432" marB="27432" marL="36576" marR="36576" anchor="ctr">
                    <a:solidFill>
                      <a:srgbClr val="EEF2FF"/>
                    </a:solidFill>
                  </a:tcPr>
                </a:tc>
                <a:tc>
                  <a:txBody>
                    <a:bodyPr/>
                    <a:lstStyle/>
                    <a:p>
                      <a:pPr algn="ctr">
                        <a:defRPr sz="900" b="1">
                          <a:solidFill>
                            <a:srgbClr val="2563EB"/>
                          </a:solidFill>
                          <a:latin typeface="Arial"/>
                        </a:defRPr>
                      </a:pPr>
                      <a:r>
                        <a:t>0.82 (Real data)</a:t>
                      </a:r>
                    </a:p>
                  </a:txBody>
                  <a:tcPr marT="27432" marB="27432" marL="36576" marR="36576" anchor="ctr">
                    <a:solidFill>
                      <a:srgbClr val="EEF2FF"/>
                    </a:solidFill>
                  </a:tcPr>
                </a:tc>
              </a:tr>
            </a:tbl>
          </a:graphicData>
        </a:graphic>
      </p:graphicFrame>
      <p:sp>
        <p:nvSpPr>
          <p:cNvPr id="8" name="Rectangle 7"/>
          <p:cNvSpPr/>
          <p:nvPr/>
        </p:nvSpPr>
        <p:spPr>
          <a:xfrm>
            <a:off x="731520" y="3749039"/>
            <a:ext cx="5212080" cy="2468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886200"/>
            <a:ext cx="4846320" cy="2194560"/>
          </a:xfrm>
          <a:prstGeom prst="rect">
            <a:avLst/>
          </a:prstGeom>
          <a:noFill/>
        </p:spPr>
        <p:txBody>
          <a:bodyPr wrap="square">
            <a:spAutoFit/>
          </a:bodyPr>
          <a:lstStyle/>
          <a:p>
            <a:pPr>
              <a:defRPr sz="1300" b="1">
                <a:solidFill>
                  <a:srgbClr val="059669"/>
                </a:solidFill>
              </a:defRPr>
            </a:pPr>
            <a:r>
              <a:t>Multimodal Synergy Confirmed</a:t>
            </a:r>
          </a:p>
          <a:p>
            <a:pPr>
              <a:spcBef>
                <a:spcPts val="600"/>
              </a:spcBef>
              <a:defRPr sz="1050"/>
            </a:pPr>
            <a:r>
              <a:rPr b="1">
                <a:solidFill>
                  <a:srgbClr val="1E293B"/>
                </a:solidFill>
              </a:rPr>
              <a:t>• Modality Progression: </a:t>
            </a:r>
            <a:r>
              <a:rPr>
                <a:solidFill>
                  <a:srgbClr val="64748B"/>
                </a:solidFill>
              </a:rPr>
              <a:t>Clinical (0.71) -&gt; Radiomics (0.77) -&gt; Combined (0.80) shows steady prognostic improvement (+0.09 over clinical alone).</a:t>
            </a:r>
          </a:p>
          <a:p>
            <a:pPr>
              <a:spcBef>
                <a:spcPts val="600"/>
              </a:spcBef>
              <a:defRPr sz="1050"/>
            </a:pPr>
            <a:r>
              <a:rPr b="1">
                <a:solidFill>
                  <a:srgbClr val="1E293B"/>
                </a:solidFill>
              </a:rPr>
              <a:t>• Orthogonal Signals: </a:t>
            </a:r>
            <a:r>
              <a:rPr>
                <a:solidFill>
                  <a:srgbClr val="64748B"/>
                </a:solidFill>
              </a:rPr>
              <a:t>Qualitative macro-staging and quantitative voxel texture provide complementary information, reducing residual variance.</a:t>
            </a:r>
          </a:p>
        </p:txBody>
      </p:sp>
      <p:sp>
        <p:nvSpPr>
          <p:cNvPr id="10" name="Rectangle 9"/>
          <p:cNvSpPr/>
          <p:nvPr/>
        </p:nvSpPr>
        <p:spPr>
          <a:xfrm>
            <a:off x="6217920" y="3749039"/>
            <a:ext cx="5212080" cy="24688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886200"/>
            <a:ext cx="4846320" cy="2194560"/>
          </a:xfrm>
          <a:prstGeom prst="rect">
            <a:avLst/>
          </a:prstGeom>
          <a:noFill/>
        </p:spPr>
        <p:txBody>
          <a:bodyPr wrap="square">
            <a:spAutoFit/>
          </a:bodyPr>
          <a:lstStyle/>
          <a:p>
            <a:pPr>
              <a:defRPr sz="1300" b="1">
                <a:solidFill>
                  <a:srgbClr val="DC2626"/>
                </a:solidFill>
              </a:defRPr>
            </a:pPr>
            <a:r>
              <a:t>Why Leak-Free C-Indices are Lower</a:t>
            </a:r>
          </a:p>
          <a:p>
            <a:pPr>
              <a:spcBef>
                <a:spcPts val="600"/>
              </a:spcBef>
              <a:defRPr sz="1050"/>
            </a:pPr>
            <a:r>
              <a:rPr b="1">
                <a:solidFill>
                  <a:srgbClr val="7F1D1D"/>
                </a:solidFill>
              </a:rPr>
              <a:t>• Paper-Style SMOTE Leakage: </a:t>
            </a:r>
            <a:r>
              <a:rPr>
                <a:solidFill>
                  <a:srgbClr val="991B1B"/>
                </a:solidFill>
              </a:rPr>
              <a:t>Applying SMOTE before CV splits creates synthetic twins that land in both train and test folds, artificially inflating C-index by +0.03 to +0.06.</a:t>
            </a:r>
          </a:p>
          <a:p>
            <a:pPr>
              <a:spcBef>
                <a:spcPts val="600"/>
              </a:spcBef>
              <a:defRPr sz="1050"/>
            </a:pPr>
            <a:r>
              <a:rPr b="1">
                <a:solidFill>
                  <a:srgbClr val="7F1D1D"/>
                </a:solidFill>
              </a:rPr>
              <a:t>• Global Pruning Leakage: </a:t>
            </a:r>
            <a:r>
              <a:rPr>
                <a:solidFill>
                  <a:srgbClr val="991B1B"/>
                </a:solidFill>
              </a:rPr>
              <a:t>Selecting the 490 feature mask on all 80 patients uses test survival times in feature selection.</a:t>
            </a:r>
          </a:p>
          <a:p>
            <a:pPr>
              <a:spcBef>
                <a:spcPts val="600"/>
              </a:spcBef>
              <a:defRPr sz="1050"/>
            </a:pPr>
            <a:r>
              <a:rPr b="1">
                <a:solidFill>
                  <a:srgbClr val="7F1D1D"/>
                </a:solidFill>
              </a:rPr>
              <a:t>• Honest Benchmark: </a:t>
            </a:r>
            <a:r>
              <a:rPr>
                <a:solidFill>
                  <a:srgbClr val="991B1B"/>
                </a:solidFill>
              </a:rPr>
              <a:t>Our leak-free 0.80 C-index represents true generalizable performance on unseen patients.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KAPLAN-MEIER CURVES &amp; FEATURE INTERPRETABILITY</a:t>
            </a:r>
          </a:p>
          <a:p>
            <a:pPr>
              <a:defRPr sz="2100" b="1">
                <a:solidFill>
                  <a:srgbClr val="1B365D"/>
                </a:solidFill>
                <a:latin typeface="Arial"/>
              </a:defRPr>
            </a:pPr>
            <a:r>
              <a:t>Risk Stratification &amp; Key Prognostic Biomarkers</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09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_kaplan_meier_risk_groups.png"/>
          <p:cNvPicPr>
            <a:picLocks noChangeAspect="1"/>
          </p:cNvPicPr>
          <p:nvPr/>
        </p:nvPicPr>
        <p:blipFill>
          <a:blip r:embed="rId2"/>
          <a:stretch>
            <a:fillRect/>
          </a:stretch>
        </p:blipFill>
        <p:spPr>
          <a:xfrm>
            <a:off x="868680" y="1417320"/>
            <a:ext cx="4937760" cy="3200400"/>
          </a:xfrm>
          <a:prstGeom prst="rect">
            <a:avLst/>
          </a:prstGeom>
        </p:spPr>
      </p:pic>
      <p:sp>
        <p:nvSpPr>
          <p:cNvPr id="7" name="TextBox 6"/>
          <p:cNvSpPr txBox="1"/>
          <p:nvPr/>
        </p:nvSpPr>
        <p:spPr>
          <a:xfrm>
            <a:off x="914400" y="4709160"/>
            <a:ext cx="4846320" cy="1371600"/>
          </a:xfrm>
          <a:prstGeom prst="rect">
            <a:avLst/>
          </a:prstGeom>
          <a:noFill/>
        </p:spPr>
        <p:txBody>
          <a:bodyPr wrap="square">
            <a:spAutoFit/>
          </a:bodyPr>
          <a:lstStyle/>
          <a:p>
            <a:pPr>
              <a:defRPr sz="1200" b="1">
                <a:solidFill>
                  <a:srgbClr val="1B365D"/>
                </a:solidFill>
              </a:defRPr>
            </a:pPr>
            <a:r>
              <a:t>Figure 4: Kaplan-Meier Risk Group Stratification</a:t>
            </a:r>
          </a:p>
          <a:p>
            <a:pPr>
              <a:defRPr sz="1000">
                <a:solidFill>
                  <a:srgbClr val="64748B"/>
                </a:solidFill>
              </a:defRPr>
            </a:pPr>
            <a:r>
              <a:t>• Median hazard score split separates High vs. Low risk patients.</a:t>
            </a:r>
          </a:p>
          <a:p>
            <a:pPr>
              <a:defRPr sz="1000">
                <a:solidFill>
                  <a:srgbClr val="64748B"/>
                </a:solidFill>
              </a:defRPr>
            </a:pPr>
            <a:r>
              <a:t>• Log-Rank statistic = 135.11, p = 3.13e-31 (&lt; 0.001) confirms marked statistical separation.</a:t>
            </a:r>
          </a:p>
        </p:txBody>
      </p:sp>
      <p:sp>
        <p:nvSpPr>
          <p:cNvPr id="8" name="Rectangle 7"/>
          <p:cNvSpPr/>
          <p:nvPr/>
        </p:nvSpPr>
        <p:spPr>
          <a:xfrm>
            <a:off x="62179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_top15_cox_coefficients.png"/>
          <p:cNvPicPr>
            <a:picLocks noChangeAspect="1"/>
          </p:cNvPicPr>
          <p:nvPr/>
        </p:nvPicPr>
        <p:blipFill>
          <a:blip r:embed="rId3"/>
          <a:stretch>
            <a:fillRect/>
          </a:stretch>
        </p:blipFill>
        <p:spPr>
          <a:xfrm>
            <a:off x="6355080" y="1417320"/>
            <a:ext cx="4937760" cy="3200400"/>
          </a:xfrm>
          <a:prstGeom prst="rect">
            <a:avLst/>
          </a:prstGeom>
        </p:spPr>
      </p:pic>
      <p:sp>
        <p:nvSpPr>
          <p:cNvPr id="10" name="TextBox 9"/>
          <p:cNvSpPr txBox="1"/>
          <p:nvPr/>
        </p:nvSpPr>
        <p:spPr>
          <a:xfrm>
            <a:off x="6400800" y="4709160"/>
            <a:ext cx="4846320" cy="1371600"/>
          </a:xfrm>
          <a:prstGeom prst="rect">
            <a:avLst/>
          </a:prstGeom>
          <a:noFill/>
        </p:spPr>
        <p:txBody>
          <a:bodyPr wrap="square">
            <a:spAutoFit/>
          </a:bodyPr>
          <a:lstStyle/>
          <a:p>
            <a:pPr>
              <a:defRPr sz="1200" b="1">
                <a:solidFill>
                  <a:srgbClr val="1B365D"/>
                </a:solidFill>
              </a:defRPr>
            </a:pPr>
            <a:r>
              <a:t>Figure 5: Top 15 CoxPH log(HR) Hazard Coefficients</a:t>
            </a:r>
          </a:p>
          <a:p>
            <a:pPr>
              <a:defRPr sz="1000">
                <a:solidFill>
                  <a:srgbClr val="64748B"/>
                </a:solidFill>
              </a:defRPr>
            </a:pPr>
            <a:r>
              <a:t>• Chemotherapy Time (After SBRT): strongly protective (log HR = -0.56).</a:t>
            </a:r>
          </a:p>
          <a:p>
            <a:pPr>
              <a:defRPr sz="1000">
                <a:solidFill>
                  <a:srgbClr val="64748B"/>
                </a:solidFill>
              </a:defRPr>
            </a:pPr>
            <a:r>
              <a:t>• Primary Tumor Stage (T2/T3/T4): increases hazard (log HR = +0.22).</a:t>
            </a:r>
          </a:p>
          <a:p>
            <a:pPr>
              <a:defRPr sz="1000">
                <a:solidFill>
                  <a:srgbClr val="64748B"/>
                </a:solidFill>
              </a:defRPr>
            </a:pPr>
            <a:r>
              <a:t>• Wavelet GLRLM / GLSZM texture descriptors quantify micro-invasion risk.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INTERACTIVE DECISION SUPPORT &amp; CLI</a:t>
            </a:r>
          </a:p>
          <a:p>
            <a:pPr>
              <a:defRPr sz="2100" b="1">
                <a:solidFill>
                  <a:srgbClr val="1B365D"/>
                </a:solidFill>
                <a:latin typeface="Arial"/>
              </a:defRPr>
            </a:pPr>
            <a:r>
              <a:t>Software Architecture &amp; Live Demonstration</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10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846320" cy="4572000"/>
          </a:xfrm>
          <a:prstGeom prst="rect">
            <a:avLst/>
          </a:prstGeom>
          <a:noFill/>
        </p:spPr>
        <p:txBody>
          <a:bodyPr wrap="square">
            <a:spAutoFit/>
          </a:bodyPr>
          <a:lstStyle/>
          <a:p>
            <a:pPr>
              <a:defRPr sz="1600" b="1">
                <a:solidFill>
                  <a:srgbClr val="1B365D"/>
                </a:solidFill>
              </a:defRPr>
            </a:pPr>
            <a:r>
              <a:t>Interactive Clinical Decision Tool (app.py)</a:t>
            </a:r>
          </a:p>
          <a:p>
            <a:pPr>
              <a:spcBef>
                <a:spcPts val="600"/>
              </a:spcBef>
              <a:defRPr sz="1050"/>
            </a:pPr>
            <a:r>
              <a:rPr b="1">
                <a:solidFill>
                  <a:srgbClr val="1E293B"/>
                </a:solidFill>
              </a:rPr>
              <a:t>• Web Application Interface: </a:t>
            </a:r>
            <a:r>
              <a:rPr>
                <a:solidFill>
                  <a:srgbClr val="64748B"/>
                </a:solidFill>
              </a:rPr>
              <a:t>Built with Streamlit; provides oncologists with real-time risk stratification and patient survival curve projection.</a:t>
            </a:r>
          </a:p>
          <a:p>
            <a:pPr>
              <a:spcBef>
                <a:spcPts val="600"/>
              </a:spcBef>
              <a:defRPr sz="1050"/>
            </a:pPr>
            <a:r>
              <a:rPr b="1">
                <a:solidFill>
                  <a:srgbClr val="1E293B"/>
                </a:solidFill>
              </a:rPr>
              <a:t>• Interactive Patient Input: </a:t>
            </a:r>
            <a:r>
              <a:rPr>
                <a:solidFill>
                  <a:srgbClr val="64748B"/>
                </a:solidFill>
              </a:rPr>
              <a:t>Sliders and dropdowns for tumor dimensions, clinical staging (T, N, Stage Grouping), chemotherapy timing, and radiomic texture features.</a:t>
            </a:r>
          </a:p>
          <a:p>
            <a:pPr>
              <a:spcBef>
                <a:spcPts val="600"/>
              </a:spcBef>
              <a:defRPr sz="1050"/>
            </a:pPr>
            <a:r>
              <a:rPr b="1">
                <a:solidFill>
                  <a:srgbClr val="1E293B"/>
                </a:solidFill>
              </a:rPr>
              <a:t>• Real-Time Prognosis Output: </a:t>
            </a:r>
            <a:r>
              <a:rPr>
                <a:solidFill>
                  <a:srgbClr val="64748B"/>
                </a:solidFill>
              </a:rPr>
              <a:t>Displays predicted partial hazard score, median survival estimate, and personalized Kaplan-Meier trajectory with 95% confidence bounds.</a:t>
            </a:r>
          </a:p>
          <a:p>
            <a:pPr>
              <a:spcBef>
                <a:spcPts val="600"/>
              </a:spcBef>
              <a:defRPr sz="1050"/>
            </a:pPr>
            <a:r>
              <a:rPr b="1">
                <a:solidFill>
                  <a:srgbClr val="1E293B"/>
                </a:solidFill>
              </a:rPr>
              <a:t>• How to Run Web Demo: </a:t>
            </a:r>
            <a:r>
              <a:rPr>
                <a:solidFill>
                  <a:srgbClr val="64748B"/>
                </a:solidFill>
              </a:rPr>
              <a:t>Run: streamlit run app.py in PowerShell / Bash.</a:t>
            </a:r>
          </a:p>
          <a:p>
            <a:pPr>
              <a:spcBef>
                <a:spcPts val="600"/>
              </a:spcBef>
              <a:defRPr sz="1050"/>
            </a:pPr>
            <a:r>
              <a:rPr b="1">
                <a:solidFill>
                  <a:srgbClr val="1E293B"/>
                </a:solidFill>
              </a:rPr>
              <a:t>• How to Run Fast Terminal Demo: </a:t>
            </a:r>
            <a:r>
              <a:rPr>
                <a:solidFill>
                  <a:srgbClr val="64748B"/>
                </a:solidFill>
              </a:rPr>
              <a:t>Run: python demo_cli.py for immediate validation of CV tables, leakage comparisons, and test patient inference.</a:t>
            </a:r>
          </a:p>
        </p:txBody>
      </p:sp>
      <p:sp>
        <p:nvSpPr>
          <p:cNvPr id="7" name="Rectangle 6"/>
          <p:cNvSpPr/>
          <p:nvPr/>
        </p:nvSpPr>
        <p:spPr>
          <a:xfrm>
            <a:off x="6217920" y="1280160"/>
            <a:ext cx="5212080" cy="49377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63040"/>
            <a:ext cx="4846320" cy="4572000"/>
          </a:xfrm>
          <a:prstGeom prst="rect">
            <a:avLst/>
          </a:prstGeom>
          <a:noFill/>
        </p:spPr>
        <p:txBody>
          <a:bodyPr wrap="square">
            <a:spAutoFit/>
          </a:bodyPr>
          <a:lstStyle/>
          <a:p>
            <a:pPr>
              <a:defRPr sz="1600" b="1">
                <a:solidFill>
                  <a:srgbClr val="1B365D"/>
                </a:solidFill>
              </a:defRPr>
            </a:pPr>
            <a:r>
              <a:t>Modular Codebase Organization</a:t>
            </a:r>
          </a:p>
          <a:p>
            <a:pPr>
              <a:spcBef>
                <a:spcPts val="600"/>
              </a:spcBef>
              <a:defRPr sz="1050"/>
            </a:pPr>
            <a:r>
              <a:rPr b="1">
                <a:solidFill>
                  <a:srgbClr val="2563EB"/>
                </a:solidFill>
              </a:rPr>
              <a:t>• src/data_generator.py: </a:t>
            </a:r>
            <a:r>
              <a:rPr>
                <a:solidFill>
                  <a:srgbClr val="1E293B"/>
                </a:solidFill>
              </a:rPr>
              <a:t>Generates synthetic 80-patient clinical &amp; 900 radiomic feature matrices with realistic survival times &amp; right-censoring.</a:t>
            </a:r>
          </a:p>
          <a:p>
            <a:pPr>
              <a:spcBef>
                <a:spcPts val="600"/>
              </a:spcBef>
              <a:defRPr sz="1050"/>
            </a:pPr>
            <a:r>
              <a:rPr b="1">
                <a:solidFill>
                  <a:srgbClr val="2563EB"/>
                </a:solidFill>
              </a:rPr>
              <a:t>• src/naive_bayes_smote.py: </a:t>
            </a:r>
            <a:r>
              <a:rPr>
                <a:solidFill>
                  <a:srgbClr val="1E293B"/>
                </a:solidFill>
              </a:rPr>
              <a:t>Clinical discretization, Multinomial Naive Bayes threshold optimization with deterministic tie-breaking, and 5-NN SMOTE.</a:t>
            </a:r>
          </a:p>
          <a:p>
            <a:pPr>
              <a:spcBef>
                <a:spcPts val="600"/>
              </a:spcBef>
              <a:defRPr sz="1050"/>
            </a:pPr>
            <a:r>
              <a:rPr b="1">
                <a:solidFill>
                  <a:srgbClr val="2563EB"/>
                </a:solidFill>
              </a:rPr>
              <a:t>• src/survival_models.py: </a:t>
            </a:r>
            <a:r>
              <a:rPr>
                <a:solidFill>
                  <a:srgbClr val="1E293B"/>
                </a:solidFill>
              </a:rPr>
              <a:t>Radiomic feature pruning, L2-regularized Cox PH regression, both honest leak-free and leaky CV, and Kaplan-Meier estimation.</a:t>
            </a:r>
          </a:p>
          <a:p>
            <a:pPr>
              <a:spcBef>
                <a:spcPts val="600"/>
              </a:spcBef>
              <a:defRPr sz="1050"/>
            </a:pPr>
            <a:r>
              <a:rPr b="1">
                <a:solidFill>
                  <a:srgbClr val="2563EB"/>
                </a:solidFill>
              </a:rPr>
              <a:t>• src/visualization.py: </a:t>
            </a:r>
            <a:r>
              <a:rPr>
                <a:solidFill>
                  <a:srgbClr val="1E293B"/>
                </a:solidFill>
              </a:rPr>
              <a:t>High-resolution visualization generation for Figures 1 through 6.</a:t>
            </a:r>
          </a:p>
          <a:p>
            <a:pPr>
              <a:spcBef>
                <a:spcPts val="600"/>
              </a:spcBef>
              <a:defRPr sz="1050"/>
            </a:pPr>
            <a:r>
              <a:rPr b="1">
                <a:solidFill>
                  <a:srgbClr val="2563EB"/>
                </a:solidFill>
              </a:rPr>
              <a:t>• tools/make_writeup.py &amp; make_presentation.py: </a:t>
            </a:r>
            <a:r>
              <a:rPr>
                <a:solidFill>
                  <a:srgbClr val="1E293B"/>
                </a:solidFill>
              </a:rPr>
              <a:t>Fully reproducible generators pulling numbers programmatically from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HONEST SCIENTIFIC EVALUATION</a:t>
            </a:r>
          </a:p>
          <a:p>
            <a:pPr>
              <a:defRPr sz="2100" b="1">
                <a:solidFill>
                  <a:srgbClr val="1B365D"/>
                </a:solidFill>
                <a:latin typeface="Arial"/>
              </a:defRPr>
            </a:pPr>
            <a:r>
              <a:t>Methodological Limitations &amp; Future Research</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11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212080" cy="2377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80160"/>
            <a:ext cx="137160" cy="2377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17320"/>
            <a:ext cx="4754880" cy="2103120"/>
          </a:xfrm>
          <a:prstGeom prst="rect">
            <a:avLst/>
          </a:prstGeom>
          <a:noFill/>
        </p:spPr>
        <p:txBody>
          <a:bodyPr wrap="square">
            <a:spAutoFit/>
          </a:bodyPr>
          <a:lstStyle/>
          <a:p>
            <a:pPr>
              <a:defRPr sz="1300" b="1">
                <a:solidFill>
                  <a:srgbClr val="1B365D"/>
                </a:solidFill>
              </a:defRPr>
            </a:pPr>
            <a:r>
              <a:t>1. Synthetic Data Distribution</a:t>
            </a:r>
          </a:p>
          <a:p>
            <a:pPr>
              <a:spcBef>
                <a:spcPts val="300"/>
              </a:spcBef>
              <a:defRPr sz="1050" b="1">
                <a:solidFill>
                  <a:srgbClr val="DC2626"/>
                </a:solidFill>
              </a:defRPr>
            </a:pPr>
            <a:r>
              <a:t>NDA Restraint &amp; Generalizability</a:t>
            </a:r>
          </a:p>
          <a:p>
            <a:pPr>
              <a:spcBef>
                <a:spcPts val="600"/>
              </a:spcBef>
              <a:defRPr sz="1000">
                <a:solidFill>
                  <a:srgbClr val="64748B"/>
                </a:solidFill>
              </a:defRPr>
            </a:pPr>
            <a:r>
              <a:t>Because the Stanford Cancer Center cohort is protected under an NDA, all experiments use synthetic data. While mathematical dynamics match the paper, conclusions cannot be translated into real clinical decisions or interpreted as outperforming the paper.</a:t>
            </a:r>
          </a:p>
        </p:txBody>
      </p:sp>
      <p:sp>
        <p:nvSpPr>
          <p:cNvPr id="8" name="Rectangle 7"/>
          <p:cNvSpPr/>
          <p:nvPr/>
        </p:nvSpPr>
        <p:spPr>
          <a:xfrm>
            <a:off x="6217920" y="1280160"/>
            <a:ext cx="5212080" cy="2377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280160"/>
            <a:ext cx="137160" cy="2377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417320"/>
            <a:ext cx="4754880" cy="2103120"/>
          </a:xfrm>
          <a:prstGeom prst="rect">
            <a:avLst/>
          </a:prstGeom>
          <a:noFill/>
        </p:spPr>
        <p:txBody>
          <a:bodyPr wrap="square">
            <a:spAutoFit/>
          </a:bodyPr>
          <a:lstStyle/>
          <a:p>
            <a:pPr>
              <a:defRPr sz="1300" b="1">
                <a:solidFill>
                  <a:srgbClr val="1B365D"/>
                </a:solidFill>
              </a:defRPr>
            </a:pPr>
            <a:r>
              <a:t>2. Small Sample Size (n = 80)</a:t>
            </a:r>
          </a:p>
          <a:p>
            <a:pPr>
              <a:spcBef>
                <a:spcPts val="300"/>
              </a:spcBef>
              <a:defRPr sz="1050" b="1">
                <a:solidFill>
                  <a:srgbClr val="D97706"/>
                </a:solidFill>
              </a:defRPr>
            </a:pPr>
            <a:r>
              <a:t>Sampling Variance in High Dimensions</a:t>
            </a:r>
          </a:p>
          <a:p>
            <a:pPr>
              <a:spcBef>
                <a:spcPts val="600"/>
              </a:spcBef>
              <a:defRPr sz="1000">
                <a:solidFill>
                  <a:srgbClr val="64748B"/>
                </a:solidFill>
              </a:defRPr>
            </a:pPr>
            <a:r>
              <a:t>Training survival models on 80 patients across 502 features results in substantial cross-validation variance (standard deviation of ±0.09 to ±0.11 across folds). Validating on larger multi-institutional cohorts is necessary.</a:t>
            </a:r>
          </a:p>
        </p:txBody>
      </p:sp>
      <p:sp>
        <p:nvSpPr>
          <p:cNvPr id="11" name="Rectangle 10"/>
          <p:cNvSpPr/>
          <p:nvPr/>
        </p:nvSpPr>
        <p:spPr>
          <a:xfrm>
            <a:off x="731520" y="3840480"/>
            <a:ext cx="5212080" cy="2377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840480"/>
            <a:ext cx="137160" cy="2377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977640"/>
            <a:ext cx="4754880" cy="2103120"/>
          </a:xfrm>
          <a:prstGeom prst="rect">
            <a:avLst/>
          </a:prstGeom>
          <a:noFill/>
        </p:spPr>
        <p:txBody>
          <a:bodyPr wrap="square">
            <a:spAutoFit/>
          </a:bodyPr>
          <a:lstStyle/>
          <a:p>
            <a:pPr>
              <a:defRPr sz="1300" b="1">
                <a:solidFill>
                  <a:srgbClr val="1B365D"/>
                </a:solidFill>
              </a:defRPr>
            </a:pPr>
            <a:r>
              <a:t>3. SMOTE on Time-to-Event Data</a:t>
            </a:r>
          </a:p>
          <a:p>
            <a:pPr>
              <a:spcBef>
                <a:spcPts val="300"/>
              </a:spcBef>
              <a:defRPr sz="1050" b="1">
                <a:solidFill>
                  <a:srgbClr val="2563EB"/>
                </a:solidFill>
              </a:defRPr>
            </a:pPr>
            <a:r>
              <a:t>Euclidean Interpolation vs Hazard Dynamics</a:t>
            </a:r>
          </a:p>
          <a:p>
            <a:pPr>
              <a:spcBef>
                <a:spcPts val="600"/>
              </a:spcBef>
              <a:defRPr sz="1000">
                <a:solidFill>
                  <a:srgbClr val="64748B"/>
                </a:solidFill>
              </a:defRPr>
            </a:pPr>
            <a:r>
              <a:t>Applying Euclidean SMOTE interpolates survival times and event indicators geometrically between nearest neighbors without modeling non-linear baseline hazard functions or censoring distributions.</a:t>
            </a:r>
          </a:p>
        </p:txBody>
      </p:sp>
      <p:sp>
        <p:nvSpPr>
          <p:cNvPr id="14" name="Rectangle 13"/>
          <p:cNvSpPr/>
          <p:nvPr/>
        </p:nvSpPr>
        <p:spPr>
          <a:xfrm>
            <a:off x="6217920" y="3840480"/>
            <a:ext cx="5212080" cy="2377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840480"/>
            <a:ext cx="137160" cy="23774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977640"/>
            <a:ext cx="4754880" cy="2103120"/>
          </a:xfrm>
          <a:prstGeom prst="rect">
            <a:avLst/>
          </a:prstGeom>
          <a:noFill/>
        </p:spPr>
        <p:txBody>
          <a:bodyPr wrap="square">
            <a:spAutoFit/>
          </a:bodyPr>
          <a:lstStyle/>
          <a:p>
            <a:pPr>
              <a:defRPr sz="1300" b="1">
                <a:solidFill>
                  <a:srgbClr val="1B365D"/>
                </a:solidFill>
              </a:defRPr>
            </a:pPr>
            <a:r>
              <a:t>4. Proportional Hazards Assumption</a:t>
            </a:r>
          </a:p>
          <a:p>
            <a:pPr>
              <a:spcBef>
                <a:spcPts val="300"/>
              </a:spcBef>
              <a:defRPr sz="1050" b="1">
                <a:solidFill>
                  <a:srgbClr val="1B365D"/>
                </a:solidFill>
              </a:defRPr>
            </a:pPr>
            <a:r>
              <a:t>Time-Varying Covariate Dynamics</a:t>
            </a:r>
          </a:p>
          <a:p>
            <a:pPr>
              <a:spcBef>
                <a:spcPts val="600"/>
              </a:spcBef>
              <a:defRPr sz="1000">
                <a:solidFill>
                  <a:srgbClr val="64748B"/>
                </a:solidFill>
              </a:defRPr>
            </a:pPr>
            <a:r>
              <a:t>The fundamental Cox PH assumption (that hazard ratios remain constant over time) was not formally tested via Schoenfeld residual diagnostics. Future work should evaluate time-varying coefficient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PROJECT OWNERSHIP &amp; ACCOUNTABILITY</a:t>
            </a:r>
          </a:p>
          <a:p>
            <a:pPr>
              <a:defRPr sz="2100" b="1">
                <a:solidFill>
                  <a:srgbClr val="1B365D"/>
                </a:solidFill>
                <a:latin typeface="Arial"/>
              </a:defRPr>
            </a:pPr>
            <a:r>
              <a:t>Team Contributions &amp; Task Allocation</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12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63040"/>
            <a:ext cx="4663440" cy="4572000"/>
          </a:xfrm>
          <a:prstGeom prst="rect">
            <a:avLst/>
          </a:prstGeom>
          <a:noFill/>
        </p:spPr>
        <p:txBody>
          <a:bodyPr wrap="square">
            <a:spAutoFit/>
          </a:bodyPr>
          <a:lstStyle/>
          <a:p>
            <a:pPr>
              <a:defRPr sz="2000" b="1">
                <a:solidFill>
                  <a:srgbClr val="1B365D"/>
                </a:solidFill>
              </a:defRPr>
            </a:pPr>
            <a:r>
              <a:t>Dilipan Y</a:t>
            </a:r>
          </a:p>
          <a:p>
            <a:pPr>
              <a:spcBef>
                <a:spcPts val="300"/>
              </a:spcBef>
              <a:defRPr sz="1100" b="1">
                <a:solidFill>
                  <a:srgbClr val="2563EB"/>
                </a:solidFill>
              </a:defRPr>
            </a:pPr>
            <a:r>
              <a:t>SRN: PES1UG24AM092  •  Generative Modeling &amp; SMOTE</a:t>
            </a:r>
          </a:p>
          <a:p>
            <a:pPr>
              <a:spcBef>
                <a:spcPts val="500"/>
              </a:spcBef>
              <a:defRPr sz="1050">
                <a:solidFill>
                  <a:srgbClr val="1E293B"/>
                </a:solidFill>
              </a:defRPr>
            </a:pPr>
            <a:r>
              <a:t>• Clinical cohort discretization &amp; exploratory data analysis (src/data_generator.py).</a:t>
            </a:r>
          </a:p>
          <a:p>
            <a:pPr>
              <a:spcBef>
                <a:spcPts val="500"/>
              </a:spcBef>
              <a:defRPr sz="1050">
                <a:solidFill>
                  <a:srgbClr val="1E293B"/>
                </a:solidFill>
              </a:defRPr>
            </a:pPr>
            <a:r>
              <a:t>• Custom Multinomial Naive Bayes classifier with Laplace smoothing (src/naive_bayes_smote.py).</a:t>
            </a:r>
          </a:p>
          <a:p>
            <a:pPr>
              <a:spcBef>
                <a:spcPts val="500"/>
              </a:spcBef>
              <a:defRPr sz="1050">
                <a:solidFill>
                  <a:srgbClr val="1E293B"/>
                </a:solidFill>
              </a:defRPr>
            </a:pPr>
            <a:r>
              <a:t>• 10-fold CV threshold optimization across 240, 270, 300, 330, and 360 days.</a:t>
            </a:r>
          </a:p>
          <a:p>
            <a:pPr>
              <a:spcBef>
                <a:spcPts val="500"/>
              </a:spcBef>
              <a:defRPr sz="1050">
                <a:solidFill>
                  <a:srgbClr val="1E293B"/>
                </a:solidFill>
              </a:defRPr>
            </a:pPr>
            <a:r>
              <a:t>• Implementation of deterministic tie-breaking rules (identifying 0.74 tie and selecting 270d).</a:t>
            </a:r>
          </a:p>
          <a:p>
            <a:pPr>
              <a:spcBef>
                <a:spcPts val="500"/>
              </a:spcBef>
              <a:defRPr sz="1050">
                <a:solidFill>
                  <a:srgbClr val="1E293B"/>
                </a:solidFill>
              </a:defRPr>
            </a:pPr>
            <a:r>
              <a:t>• 5-NN SMOTE minority oversampling on joint multimodal space (80 -&gt; 112 patients).</a:t>
            </a:r>
          </a:p>
          <a:p>
            <a:pPr>
              <a:spcBef>
                <a:spcPts val="500"/>
              </a:spcBef>
              <a:defRPr sz="1050">
                <a:solidFill>
                  <a:srgbClr val="1E293B"/>
                </a:solidFill>
              </a:defRPr>
            </a:pPr>
            <a:r>
              <a:t>• Generation and analysis of Figures 1, 2, and 3.</a:t>
            </a:r>
          </a:p>
          <a:p>
            <a:pPr>
              <a:spcBef>
                <a:spcPts val="500"/>
              </a:spcBef>
              <a:defRPr sz="1050">
                <a:solidFill>
                  <a:srgbClr val="1E293B"/>
                </a:solidFill>
              </a:defRPr>
            </a:pPr>
            <a:r>
              <a:t>• Primary author for write-up sections on threshold selection and SMOTE.</a:t>
            </a:r>
          </a:p>
        </p:txBody>
      </p:sp>
      <p:sp>
        <p:nvSpPr>
          <p:cNvPr id="7" name="Rectangle 6"/>
          <p:cNvSpPr/>
          <p:nvPr/>
        </p:nvSpPr>
        <p:spPr>
          <a:xfrm>
            <a:off x="6217920" y="1280160"/>
            <a:ext cx="5212080" cy="4937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463040"/>
            <a:ext cx="4663440" cy="4572000"/>
          </a:xfrm>
          <a:prstGeom prst="rect">
            <a:avLst/>
          </a:prstGeom>
          <a:noFill/>
        </p:spPr>
        <p:txBody>
          <a:bodyPr wrap="square">
            <a:spAutoFit/>
          </a:bodyPr>
          <a:lstStyle/>
          <a:p>
            <a:pPr>
              <a:defRPr sz="2000" b="1">
                <a:solidFill>
                  <a:srgbClr val="1B365D"/>
                </a:solidFill>
              </a:defRPr>
            </a:pPr>
            <a:r>
              <a:t>Sai Hemanth</a:t>
            </a:r>
          </a:p>
          <a:p>
            <a:pPr>
              <a:spcBef>
                <a:spcPts val="300"/>
              </a:spcBef>
              <a:defRPr sz="1100" b="1">
                <a:solidFill>
                  <a:srgbClr val="059669"/>
                </a:solidFill>
              </a:defRPr>
            </a:pPr>
            <a:r>
              <a:t>SRN: PES1UG24AM101  •  Survival Modeling &amp; Interactive App</a:t>
            </a:r>
          </a:p>
          <a:p>
            <a:pPr>
              <a:spcBef>
                <a:spcPts val="500"/>
              </a:spcBef>
              <a:defRPr sz="1050">
                <a:solidFill>
                  <a:srgbClr val="1E293B"/>
                </a:solidFill>
              </a:defRPr>
            </a:pPr>
            <a:r>
              <a:t>• Radiomic feature pruning: removed 410 collinear features (900 -&gt; 490 retained).</a:t>
            </a:r>
          </a:p>
          <a:p>
            <a:pPr>
              <a:spcBef>
                <a:spcPts val="500"/>
              </a:spcBef>
              <a:defRPr sz="1050">
                <a:solidFill>
                  <a:srgbClr val="1E293B"/>
                </a:solidFill>
              </a:defRPr>
            </a:pPr>
            <a:r>
              <a:t>• Regularized Cox Proportional Hazards regression with pure L2 penalty (penalizer=0.1).</a:t>
            </a:r>
          </a:p>
          <a:p>
            <a:pPr>
              <a:spcBef>
                <a:spcPts val="500"/>
              </a:spcBef>
              <a:defRPr sz="1050">
                <a:solidFill>
                  <a:srgbClr val="1E293B"/>
                </a:solidFill>
              </a:defRPr>
            </a:pPr>
            <a:r>
              <a:t>• Rigorous 10-fold CV Harrell's Concordance Index evaluation across all three modalities.</a:t>
            </a:r>
          </a:p>
          <a:p>
            <a:pPr>
              <a:spcBef>
                <a:spcPts val="500"/>
              </a:spcBef>
              <a:defRPr sz="1050">
                <a:solidFill>
                  <a:srgbClr val="1E293B"/>
                </a:solidFill>
              </a:defRPr>
            </a:pPr>
            <a:r>
              <a:t>• Implementation of both honest leak-free and paper-style leaky cross-validation.</a:t>
            </a:r>
          </a:p>
          <a:p>
            <a:pPr>
              <a:spcBef>
                <a:spcPts val="500"/>
              </a:spcBef>
              <a:defRPr sz="1050">
                <a:solidFill>
                  <a:srgbClr val="1E293B"/>
                </a:solidFill>
              </a:defRPr>
            </a:pPr>
            <a:r>
              <a:t>• Kaplan-Meier survival curves, Log-Rank testing, and Top 15 hazard feature analysis.</a:t>
            </a:r>
          </a:p>
          <a:p>
            <a:pPr>
              <a:spcBef>
                <a:spcPts val="500"/>
              </a:spcBef>
              <a:defRPr sz="1050">
                <a:solidFill>
                  <a:srgbClr val="1E293B"/>
                </a:solidFill>
              </a:defRPr>
            </a:pPr>
            <a:r>
              <a:t>• Developed full-stack interactive Streamlit web application (app.py).</a:t>
            </a:r>
          </a:p>
          <a:p>
            <a:pPr>
              <a:spcBef>
                <a:spcPts val="500"/>
              </a:spcBef>
              <a:defRPr sz="1050">
                <a:solidFill>
                  <a:srgbClr val="1E293B"/>
                </a:solidFill>
              </a:defRPr>
            </a:pPr>
            <a:r>
              <a:t>• Primary author for write-up sections on Cox modeling and survival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601200" cy="777240"/>
          </a:xfrm>
          <a:prstGeom prst="rect">
            <a:avLst/>
          </a:prstGeom>
          <a:noFill/>
        </p:spPr>
        <p:txBody>
          <a:bodyPr wrap="square" lIns="0" tIns="0" rIns="0" bIns="0">
            <a:spAutoFit/>
          </a:bodyPr>
          <a:lstStyle/>
          <a:p>
            <a:pPr>
              <a:defRPr sz="1000" b="1">
                <a:solidFill>
                  <a:srgbClr val="2563EB"/>
                </a:solidFill>
                <a:latin typeface="Arial"/>
              </a:defRPr>
            </a:pPr>
            <a:r>
              <a:t>VIVA &amp; DEFENSE PREPARATION</a:t>
            </a:r>
          </a:p>
          <a:p>
            <a:pPr>
              <a:defRPr sz="2100" b="1">
                <a:solidFill>
                  <a:srgbClr val="1B365D"/>
                </a:solidFill>
                <a:latin typeface="Arial"/>
              </a:defRPr>
            </a:pPr>
            <a:r>
              <a:t>Technical Defense &amp; Methodological Q&amp;A</a:t>
            </a:r>
          </a:p>
        </p:txBody>
      </p:sp>
      <p:sp>
        <p:nvSpPr>
          <p:cNvPr id="3" name="TextBox 2"/>
          <p:cNvSpPr txBox="1"/>
          <p:nvPr/>
        </p:nvSpPr>
        <p:spPr>
          <a:xfrm>
            <a:off x="10789920" y="365760"/>
            <a:ext cx="731520" cy="457200"/>
          </a:xfrm>
          <a:prstGeom prst="rect">
            <a:avLst/>
          </a:prstGeom>
          <a:noFill/>
        </p:spPr>
        <p:txBody>
          <a:bodyPr wrap="none">
            <a:spAutoFit/>
          </a:bodyPr>
          <a:lstStyle/>
          <a:p>
            <a:pPr algn="r">
              <a:defRPr sz="1100" b="1">
                <a:solidFill>
                  <a:srgbClr val="64748B"/>
                </a:solidFill>
                <a:latin typeface="Arial"/>
              </a:defRPr>
            </a:pPr>
            <a:r>
              <a:t>13 / 13</a:t>
            </a:r>
          </a:p>
        </p:txBody>
      </p:sp>
      <p:sp>
        <p:nvSpPr>
          <p:cNvPr id="4" name="TextBox 3"/>
          <p:cNvSpPr txBox="1"/>
          <p:nvPr/>
        </p:nvSpPr>
        <p:spPr>
          <a:xfrm>
            <a:off x="731520" y="6446520"/>
            <a:ext cx="10789920" cy="274320"/>
          </a:xfrm>
          <a:prstGeom prst="rect">
            <a:avLst/>
          </a:prstGeom>
          <a:noFill/>
        </p:spPr>
        <p:txBody>
          <a:bodyPr wrap="none" lIns="0" tIns="0" rIns="0" bIns="0">
            <a:spAutoFit/>
          </a:bodyPr>
          <a:lstStyle/>
          <a:p>
            <a:pPr>
              <a:defRPr sz="900">
                <a:solidFill>
                  <a:srgbClr val="64748B"/>
                </a:solidFill>
                <a:latin typeface="Arial"/>
              </a:defRPr>
            </a:pPr>
            <a:r>
              <a:t>UE24CS352A Machine Learning Mini-Project | Problem Statement 6: Pancreatic Cancer Prognosis | Stanford CS229 Replication</a:t>
            </a:r>
          </a:p>
        </p:txBody>
      </p:sp>
      <p:sp>
        <p:nvSpPr>
          <p:cNvPr id="5" name="Rectangle 4"/>
          <p:cNvSpPr/>
          <p:nvPr/>
        </p:nvSpPr>
        <p:spPr>
          <a:xfrm>
            <a:off x="731520" y="1234440"/>
            <a:ext cx="10698480" cy="9326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9304"/>
            <a:ext cx="10332720" cy="822960"/>
          </a:xfrm>
          <a:prstGeom prst="rect">
            <a:avLst/>
          </a:prstGeom>
          <a:noFill/>
        </p:spPr>
        <p:txBody>
          <a:bodyPr wrap="square">
            <a:spAutoFit/>
          </a:bodyPr>
          <a:lstStyle/>
          <a:p>
            <a:pPr>
              <a:defRPr sz="1050" b="1">
                <a:solidFill>
                  <a:srgbClr val="1B365D"/>
                </a:solidFill>
              </a:defRPr>
            </a:pPr>
            <a:r>
              <a:t>Q1: Why are your leak-free C-indices (0.80) lower than the original paper (0.82)?</a:t>
            </a:r>
          </a:p>
          <a:p>
            <a:pPr>
              <a:spcBef>
                <a:spcPts val="200"/>
              </a:spcBef>
              <a:defRPr sz="950">
                <a:solidFill>
                  <a:srgbClr val="64748B"/>
                </a:solidFill>
              </a:defRPr>
            </a:pPr>
            <a:r>
              <a:t>The paper performed SMOTE oversampling on the complete dataset prior to cross-validation. This caused synthetic twins of test patients to land in training folds, inflating the C-index by +0.06. Our leak-free evaluation strictly isolates test folds, reporting the true generalizable performance.</a:t>
            </a:r>
          </a:p>
        </p:txBody>
      </p:sp>
      <p:sp>
        <p:nvSpPr>
          <p:cNvPr id="7" name="Rectangle 6"/>
          <p:cNvSpPr/>
          <p:nvPr/>
        </p:nvSpPr>
        <p:spPr>
          <a:xfrm>
            <a:off x="731520" y="2240280"/>
            <a:ext cx="10698480" cy="9326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95144"/>
            <a:ext cx="10332720" cy="822960"/>
          </a:xfrm>
          <a:prstGeom prst="rect">
            <a:avLst/>
          </a:prstGeom>
          <a:noFill/>
        </p:spPr>
        <p:txBody>
          <a:bodyPr wrap="square">
            <a:spAutoFit/>
          </a:bodyPr>
          <a:lstStyle/>
          <a:p>
            <a:pPr>
              <a:defRPr sz="1050" b="1">
                <a:solidFill>
                  <a:srgbClr val="1B365D"/>
                </a:solidFill>
              </a:defRPr>
            </a:pPr>
            <a:r>
              <a:t>Q2: Why select 270 days when 270, 300, and 330 days all tie at 0.74 balanced accuracy?</a:t>
            </a:r>
          </a:p>
          <a:p>
            <a:pPr>
              <a:spcBef>
                <a:spcPts val="200"/>
              </a:spcBef>
              <a:defRPr sz="950">
                <a:solidFill>
                  <a:srgbClr val="64748B"/>
                </a:solidFill>
              </a:defRPr>
            </a:pPr>
            <a:r>
              <a:t>Threshold 330d was discarded due to higher fold variance (std 0.142 vs. 0.105). Between 270d and 300d (both std=0.105), 270 days was selected deterministically as the earlier cutoff, providing a conservative clinical window for aggressive therapy.</a:t>
            </a:r>
          </a:p>
        </p:txBody>
      </p:sp>
      <p:sp>
        <p:nvSpPr>
          <p:cNvPr id="9" name="Rectangle 8"/>
          <p:cNvSpPr/>
          <p:nvPr/>
        </p:nvSpPr>
        <p:spPr>
          <a:xfrm>
            <a:off x="731520" y="3246120"/>
            <a:ext cx="10698480" cy="9326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00984"/>
            <a:ext cx="10332720" cy="822960"/>
          </a:xfrm>
          <a:prstGeom prst="rect">
            <a:avLst/>
          </a:prstGeom>
          <a:noFill/>
        </p:spPr>
        <p:txBody>
          <a:bodyPr wrap="square">
            <a:spAutoFit/>
          </a:bodyPr>
          <a:lstStyle/>
          <a:p>
            <a:pPr>
              <a:defRPr sz="1050" b="1">
                <a:solidFill>
                  <a:srgbClr val="1B365D"/>
                </a:solidFill>
              </a:defRPr>
            </a:pPr>
            <a:r>
              <a:t>Q3: Why did you use pure L2 regularization instead of ElasticNet in the Cox model?</a:t>
            </a:r>
          </a:p>
          <a:p>
            <a:pPr>
              <a:spcBef>
                <a:spcPts val="200"/>
              </a:spcBef>
              <a:defRPr sz="950">
                <a:solidFill>
                  <a:srgbClr val="64748B"/>
                </a:solidFill>
              </a:defRPr>
            </a:pPr>
            <a:r>
              <a:t>Our codebase specifies penalizer=0.1 and l1_ratio=0.0 (pure Ridge). Prior variance error-band pruning already eliminated 410 collinear features; L2 regularization shrinks the remaining 490 coefficients smoothly without inducing artificial sparsity.</a:t>
            </a:r>
          </a:p>
        </p:txBody>
      </p:sp>
      <p:sp>
        <p:nvSpPr>
          <p:cNvPr id="11" name="Rectangle 10"/>
          <p:cNvSpPr/>
          <p:nvPr/>
        </p:nvSpPr>
        <p:spPr>
          <a:xfrm>
            <a:off x="731520" y="4251960"/>
            <a:ext cx="10698480" cy="9326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306824"/>
            <a:ext cx="10332720" cy="822960"/>
          </a:xfrm>
          <a:prstGeom prst="rect">
            <a:avLst/>
          </a:prstGeom>
          <a:noFill/>
        </p:spPr>
        <p:txBody>
          <a:bodyPr wrap="square">
            <a:spAutoFit/>
          </a:bodyPr>
          <a:lstStyle/>
          <a:p>
            <a:pPr>
              <a:defRPr sz="1050" b="1">
                <a:solidFill>
                  <a:srgbClr val="1B365D"/>
                </a:solidFill>
              </a:defRPr>
            </a:pPr>
            <a:r>
              <a:t>Q4: Why is the dataset synthetic, and how does this affect conclusions?</a:t>
            </a:r>
          </a:p>
          <a:p>
            <a:pPr>
              <a:spcBef>
                <a:spcPts val="200"/>
              </a:spcBef>
              <a:defRPr sz="950">
                <a:solidFill>
                  <a:srgbClr val="64748B"/>
                </a:solidFill>
              </a:defRPr>
            </a:pPr>
            <a:r>
              <a:t>The original Stanford Cancer Center cohort is protected under a non-disclosure agreement (NDA). We synthesized identical statistical distributions to evaluate the mathematical pipeline. Results validate algorithm behavior, not medical facts.</a:t>
            </a:r>
          </a:p>
        </p:txBody>
      </p:sp>
      <p:sp>
        <p:nvSpPr>
          <p:cNvPr id="13" name="Rectangle 12"/>
          <p:cNvSpPr/>
          <p:nvPr/>
        </p:nvSpPr>
        <p:spPr>
          <a:xfrm>
            <a:off x="731520" y="5257800"/>
            <a:ext cx="10698480" cy="9326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312664"/>
            <a:ext cx="10332720" cy="822960"/>
          </a:xfrm>
          <a:prstGeom prst="rect">
            <a:avLst/>
          </a:prstGeom>
          <a:noFill/>
        </p:spPr>
        <p:txBody>
          <a:bodyPr wrap="square">
            <a:spAutoFit/>
          </a:bodyPr>
          <a:lstStyle/>
          <a:p>
            <a:pPr>
              <a:defRPr sz="1050" b="1">
                <a:solidFill>
                  <a:srgbClr val="1B365D"/>
                </a:solidFill>
              </a:defRPr>
            </a:pPr>
            <a:r>
              <a:t>Q5: Did you formally verify the Proportional Hazards assumption?</a:t>
            </a:r>
          </a:p>
          <a:p>
            <a:pPr>
              <a:spcBef>
                <a:spcPts val="200"/>
              </a:spcBef>
              <a:defRPr sz="950">
                <a:solidFill>
                  <a:srgbClr val="64748B"/>
                </a:solidFill>
              </a:defRPr>
            </a:pPr>
            <a:r>
              <a:t>This is acknowledged as an explicit limitation. Proportional hazards assumes hazard ratios are constant over time. While we evaluated Harrell's C-index, formal Schoenfeld residual tests should be integrated in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